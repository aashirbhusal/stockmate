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5441489-3637-cc48-5d5a-a167800d6a37}">
          <p14:sldIdLst>
            <p14:sldId id="256"/>
            <p14:sldId id="257"/>
            <p14:sldId id="258"/>
          </p14:sldIdLst>
        </p14:section>
        <p14:section name="Demo" id="{6c797b05-709c-6319-adca-07d5bb4e5540}">
          <p14:sldIdLst>
            <p14:sldId id="259"/>
          </p14:sldIdLst>
        </p14:section>
        <p14:section name="Design and code" id="{3d7a1c9d-33bf-2535-bbcd-ebb4d393c9d7}">
          <p14:sldIdLst>
            <p14:sldId id="260"/>
            <p14:sldId id="261"/>
            <p14:sldId id="262"/>
            <p14:sldId id="263"/>
            <p14:sldId id="264"/>
            <p14:sldId id="265"/>
            <p14:sldId id="266"/>
          </p14:sldIdLst>
        </p14:section>
        <p14:section name="Testing and reflection" id="{f6227f01-df72-ed50-75c3-2a89dbc9bae3}">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Aashir, and this is StockMate, a stock tracker for a small motel. It is a Windows desktop program written in C# with Windows Forms, with its data in a SQLite file. I will explain the problem, show the program working, and then walk through the parts of the code that show the OOP principles from this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help out at a motel in Sydney where the storeroom is managed on paper, and I have seen both problems: towels running out in the middle of a shift, and breakfast stock thrown away because nobody knew it was there. The users are the manager and the housekeeping supervisor, who are not computer people, so the program has to be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the program does. Staff add items, record deliveries and issues, and the program warns them when it opens. Each item has a history, the list exports to CSV with a total value, and an item that is no longer stocked is deactivated rather than deleted, so its history stays. All eight requirements from my proposal are built, including the two I marked as extras.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about two and a half minutes. 1: open the program - point at the four kinds of warning. 2: Add item - press Save with a blank name to show the message, then add a real item. 3: Record a delivery of 20 on an item. 4: Take stock out - type more than is on hand to show 'Not enough stock', then a real amount. 5: View history on Bath towels, press Copy as text. 6: Filter to one category, Export to CSV, show the total in the message. 7: Deactivate an item, say No, then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folders, three jobs. The forms are the windows; they never contain SQL and they cannot change a quantity directly. The models hold the classes and the rules: StockItem is abstract, ConsumableItem and DurableItem inherit from it, and StockMovement is a separate class for one receipt or issue. IReportable is an interface that both StockItem and StockMovement implement. The Database class holds every line of SQL and builds the right subclass from the ItemType column. CsvExporter writes a list of items to 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Abstraction. StockItem is abstract because a plain stock item cannot answer whether it needs attention today - that depends on whether it is a consumable with a use-by date or a durable with an age. So those three members are abstract and each subclass supplies its own answer. IReportable is an interface rather than a method on StockItem because StockMovement is not a stock item but still needs a report line. The forms are also kept away from SQL: everything goes through the Database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Inheritance. ConsumableItem and DurableItem both extend StockItem. They get everything shared for free - the fields, the validation, Receive and Issue, IsLowStock and TotalValue - and add only what is different about them. A consumable adds a use-by date; a durable adds a replacement interval and the date it was last replaced. The constructor passes the shared values up with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Encapsulation. QuantityOnHand has a private setter, so nothing outside the class can assign to it. It only changes through Receive and Issue, and both check the rules first. The other properties keep their values in private fields and validate in the setter - a blank name or a negative cost throws an ArgumentException. In testing this paid off: every refused issue left the quantity and the database exactly as they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Polymorphism, in two forms. On the left, ShowWarnings loops over a list of StockItem and calls NeedsAttention and AttentionMessage. It never checks the type: a consumable answers from its use-by date, a durable from its age. CsvExporter reuses the same two calls for its Status column. On the right, through the interface: the history window puts an item and its movements - two unrelated classes - into one list of IReportable and calls ToReportLine 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 handling. Issue throws my own InsufficientStockException, which carries the item name, the quantity asked for and the quantity on hand. RecordMovement catches it in its own block, placed before catch Exception - the order matters - so a shortage gets a plain message while a real error still surfaces. Validation lives in the model setters: a blank name throws an ArgumentException and ItemForm shows it. The export catches IOException for a file open in Excel, and Program.Main shows a message instead of crashing if the database file is damaged.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Two tables in one SQLite file next to the program. Every movement is a row in Transactions and those rows are never edited or deleted. Saving a movement writes two things - the new Transactions row and the item's new quantity - inside one database transaction, so either both are saved or neither is. Queries use named parameters, so a quote mark in a name cannot break them. When rows are read back, ReadItem looks at the ItemType column and builds the right subclass.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38 scenarios, each done through the real windows against a separate test database, and after each group I read the database with a separate query to check what was really saved. Boundaries were part of it: a use-by date 30 days away warns and 31 does not; a quantity equal to the reorder level warns and one above does not. Two scenarios failed. Started from a different folder, the program created a second, empty database - fixed by building the path from the program's own folder. And editing an item holding more than 100,000 crashed, because the read-only quantity box still had a maximum - fixed by raising it first. With 2,000 items start-up and filtering meet my one-second target, but refresh after a save takes about one and a half seconds, which I have not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back. The commit history is honest: twenty-four commits, but in five blocks rather than a little each week, and the last block was on the final day. From the proposal, three tables became two, tabs became pop-up forms, and both extras were built - the history needed a new class, StockMovement, which is also where IReportable finally earned its place. If I started again I would test from the first week, because both bugs had been there since August, I would work more steadily, and I would update one row after a save instead of reloading the whole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repository is public at github.com/AashirBhusal/StockMate. Happy to take questions on the code, the design decisions, validation, exception handling or the commit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634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572000" cy="109728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3" name="Text 0"/>
          <p:cNvSpPr/>
          <p:nvPr>
            <p:ph idx="101" type="body" hasCustomPrompt="1"/>
          </p:nvPr>
        </p:nvSpPr>
        <p:spPr>
          <a:xfrm>
            <a:off x="548640" y="2560320"/>
            <a:ext cx="457200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3" name="Text 0"/>
          <p:cNvSpPr/>
          <p:nvPr/>
        </p:nvSpPr>
        <p:spPr>
          <a:xfrm>
            <a:off x="457200" y="4773168"/>
            <a:ext cx="6858000" cy="274320"/>
          </a:xfrm>
          <a:prstGeom prst="rect">
            <a:avLst/>
          </a:prstGeom>
          <a:noFill/>
          <a:ln/>
        </p:spPr>
        <p:txBody>
          <a:bodyPr wrap="square" lIns="0" tIns="0" rIns="0" bIns="0" rtlCol="0" anchor="ctr"/>
          <a:lstStyle/>
          <a:p>
            <a:pPr indent="0" marL="0">
              <a:buNone/>
            </a:pPr>
            <a:r>
              <a:rPr lang="en-US" sz="900" dirty="0">
                <a:solidFill>
                  <a:schemeClr val="accent5"/>
                </a:solidFill>
              </a:rPr>
              <a:t>StockMate  ·  ITS203 Assessment C  ·  Aashir Bhusal (s2400901)</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8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8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572000" cy="1097280"/>
          </a:xfrm>
          <a:prstGeom prst="rect">
            <a:avLst/>
          </a:prstGeom>
          <a:noFill/>
          <a:ln/>
        </p:spPr>
        <p:txBody>
          <a:bodyPr wrap="square" lIns="0" tIns="0" rIns="0" bIns="0" rtlCol="0" anchor="b"/>
          <a:lstStyle/>
          <a:p>
            <a:pPr indent="0" marL="0">
              <a:buNone/>
            </a:pPr>
            <a:r>
              <a:rPr lang="en-US" sz="5400" b="1" dirty="0">
                <a:solidFill>
                  <a:schemeClr val="bg1"/>
                </a:solidFill>
              </a:rPr>
              <a:t>StockMate</a:t>
            </a:r>
            <a:endParaRPr lang="en-US" sz="5400" dirty="0"/>
          </a:p>
        </p:txBody>
      </p:sp>
      <p:sp>
        <p:nvSpPr>
          <p:cNvPr id="3" name="Text 0"/>
          <p:cNvSpPr/>
          <p:nvPr>
            <p:ph idx="101" type="body" hasCustomPrompt="1"/>
          </p:nvPr>
        </p:nvSpPr>
        <p:spPr>
          <a:xfrm>
            <a:off x="548640" y="2560320"/>
            <a:ext cx="4572000" cy="1463040"/>
          </a:xfrm>
          <a:prstGeom prst="rect">
            <a:avLst/>
          </a:prstGeom>
          <a:noFill/>
          <a:ln/>
        </p:spPr>
        <p:txBody>
          <a:bodyPr wrap="square" lIns="0" tIns="0" rIns="0" bIns="0" rtlCol="0" anchor="t"/>
          <a:lstStyle/>
          <a:p>
            <a:pPr indent="0" marL="0">
              <a:buNone/>
            </a:pPr>
            <a:r>
              <a:rPr lang="en-US" sz="2000" dirty="0">
                <a:solidFill>
                  <a:schemeClr val="accent6"/>
                </a:solidFill>
              </a:rPr>
              <a:t>A stock tracker for a small motel</a:t>
            </a:r>
            <a:endParaRPr lang="en-US" sz="1800" dirty="0"/>
          </a:p>
          <a:p>
            <a:pPr indent="0" marL="0">
              <a:buNone/>
            </a:pPr>
            <a:r>
              <a:rPr lang="en-US" sz="800" dirty="0">
                <a:solidFill>
                  <a:schemeClr val="bg2"/>
                </a:solidFill>
              </a:rPr>
              <a:t> </a:t>
            </a:r>
            <a:endParaRPr lang="en-US" sz="1800" dirty="0"/>
          </a:p>
          <a:p>
            <a:pPr indent="0" marL="0">
              <a:buNone/>
            </a:pPr>
            <a:r>
              <a:rPr lang="en-US" sz="1400" dirty="0">
                <a:solidFill>
                  <a:schemeClr val="bg2"/>
                </a:solidFill>
              </a:rPr>
              <a:t>Aashir Bhusal  ·  s2400901</a:t>
            </a:r>
            <a:endParaRPr lang="en-US" sz="1800" dirty="0"/>
          </a:p>
          <a:p>
            <a:pPr indent="0" marL="0">
              <a:buNone/>
            </a:pPr>
            <a:r>
              <a:rPr lang="en-US" sz="1400" dirty="0">
                <a:solidFill>
                  <a:schemeClr val="bg2"/>
                </a:solidFill>
              </a:rPr>
              <a:t>ITS203 Object-Oriented Design and Programming</a:t>
            </a:r>
            <a:endParaRPr lang="en-US" sz="1800" dirty="0"/>
          </a:p>
          <a:p>
            <a:pPr indent="0" marL="0">
              <a:buNone/>
            </a:pPr>
            <a:r>
              <a:rPr lang="en-US" sz="1400" dirty="0">
                <a:solidFill>
                  <a:schemeClr val="bg2"/>
                </a:solidFill>
              </a:rPr>
              <a:t>Assessment C  ·  Milestone 3 presentation</a:t>
            </a:r>
            <a:endParaRPr lang="en-US" sz="1800" dirty="0"/>
          </a:p>
        </p:txBody>
      </p:sp>
      <p:sp>
        <p:nvSpPr>
          <p:cNvPr id="4" name="main window screenshot frame"/>
          <p:cNvSpPr/>
          <p:nvPr/>
        </p:nvSpPr>
        <p:spPr>
          <a:xfrm>
            <a:off x="5221224" y="1261872"/>
            <a:ext cx="3502152" cy="2569464"/>
          </a:xfrm>
          <a:prstGeom prst="rect">
            <a:avLst/>
          </a:prstGeom>
          <a:solidFill>
            <a:schemeClr val="bg1"/>
          </a:solidFill>
          <a:ln w="9525">
            <a:solidFill>
              <a:schemeClr val="accent5"/>
            </a:solidFill>
            <a:prstDash val="solid"/>
          </a:ln>
          <a:effectLst>
            <a:outerShdw sx="100000" sy="100000" kx="0" ky="0" algn="bl" rotWithShape="0" blurRad="76200" dist="25400" dir="5400000">
              <a:srgbClr val="1F2933">
                <a:alpha val="25000"/>
              </a:srgbClr>
            </a:outerShdw>
          </a:effectLst>
        </p:spPr>
      </p:sp>
      <p:pic>
        <p:nvPicPr>
          <p:cNvPr id="5" name="main window screenshot" descr="C:\Users\aashi\Desktop\ITS203_AssessmentC\docs\screenshots\main-window.png">    </p:cNvPr>
          <p:cNvPicPr>
            <a:picLocks noChangeAspect="1"/>
          </p:cNvPicPr>
          <p:nvPr/>
        </p:nvPicPr>
        <p:blipFill>
          <a:blip r:embed="rId1"/>
          <a:stretch>
            <a:fillRect/>
          </a:stretch>
        </p:blipFill>
        <p:spPr>
          <a:xfrm>
            <a:off x="5257800" y="1298448"/>
            <a:ext cx="3429000" cy="2496312"/>
          </a:xfrm>
          <a:prstGeom prst="rect">
            <a:avLst/>
          </a:prstGeom>
        </p:spPr>
      </p:pic>
      <p:sp>
        <p:nvSpPr>
          <p:cNvPr id="6" name="tech line"/>
          <p:cNvSpPr txBox="1"/>
          <p:nvPr/>
        </p:nvSpPr>
        <p:spPr>
          <a:xfrm>
            <a:off x="5257800" y="3931920"/>
            <a:ext cx="3429000" cy="274320"/>
          </a:xfrm>
          <a:prstGeom prst="rect">
            <a:avLst/>
          </a:prstGeom>
          <a:noFill/>
          <a:ln/>
        </p:spPr>
        <p:txBody>
          <a:bodyPr wrap="square" lIns="0" tIns="0" rIns="0" bIns="0" rtlCol="0" anchor="ctr"/>
          <a:lstStyle/>
          <a:p>
            <a:pPr algn="ctr" indent="0" marL="0">
              <a:buNone/>
            </a:pPr>
            <a:r>
              <a:rPr lang="en-US" sz="1100" dirty="0">
                <a:solidFill>
                  <a:schemeClr val="bg2"/>
                </a:solidFill>
              </a:rPr>
              <a:t>C#  ·  Windows Forms  ·  SQLite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The problem: a storeroom run on paper</a:t>
            </a:r>
            <a:endParaRPr lang="en-US" sz="3000" dirty="0"/>
          </a:p>
        </p:txBody>
      </p:sp>
      <p:sp>
        <p:nvSpPr>
          <p:cNvPr id="3" name="problem intro"/>
          <p:cNvSpPr txBox="1"/>
          <p:nvPr/>
        </p:nvSpPr>
        <p:spPr>
          <a:xfrm>
            <a:off x="457200" y="1097280"/>
            <a:ext cx="3657600" cy="1371600"/>
          </a:xfrm>
          <a:prstGeom prst="rect">
            <a:avLst/>
          </a:prstGeom>
          <a:noFill/>
          <a:ln/>
        </p:spPr>
        <p:txBody>
          <a:bodyPr wrap="square" lIns="0" tIns="0" rIns="0" bIns="0" rtlCol="0" anchor="t"/>
          <a:lstStyle/>
          <a:p>
            <a:pPr indent="0" marL="0">
              <a:buNone/>
            </a:pPr>
            <a:r>
              <a:rPr lang="en-US" sz="1500" dirty="0">
                <a:solidFill>
                  <a:schemeClr val="tx1"/>
                </a:solidFill>
              </a:rPr>
              <a:t>Small motels go through towels, sheets, soap and breakfast items every day. Most keep the count on a piece of paper in the storeroom, or do not keep it at all.</a:t>
            </a:r>
            <a:endParaRPr lang="en-US" sz="1500" dirty="0"/>
          </a:p>
        </p:txBody>
      </p:sp>
      <p:sp>
        <p:nvSpPr>
          <p:cNvPr id="4" name="users card"/>
          <p:cNvSpPr/>
          <p:nvPr/>
        </p:nvSpPr>
        <p:spPr>
          <a:xfrm>
            <a:off x="457200" y="2788920"/>
            <a:ext cx="3657600" cy="1600200"/>
          </a:xfrm>
          <a:prstGeom prst="roundRect">
            <a:avLst>
              <a:gd name="adj" fmla="val 5714"/>
            </a:avLst>
          </a:prstGeom>
          <a:solidFill>
            <a:schemeClr val="bg2"/>
          </a:solidFill>
          <a:ln w="12700">
            <a:solidFill>
              <a:schemeClr val="bg2"/>
            </a:solidFill>
            <a:prstDash val="solid"/>
          </a:ln>
        </p:spPr>
      </p:sp>
      <p:sp>
        <p:nvSpPr>
          <p:cNvPr id="5" name="users text"/>
          <p:cNvSpPr txBox="1"/>
          <p:nvPr/>
        </p:nvSpPr>
        <p:spPr>
          <a:xfrm>
            <a:off x="640080" y="2926080"/>
            <a:ext cx="3291840" cy="1325880"/>
          </a:xfrm>
          <a:prstGeom prst="rect">
            <a:avLst/>
          </a:prstGeom>
          <a:noFill/>
          <a:ln/>
        </p:spPr>
        <p:txBody>
          <a:bodyPr wrap="square" lIns="0" tIns="0" rIns="0" bIns="0" rtlCol="0" anchor="t"/>
          <a:lstStyle/>
          <a:p>
            <a:pPr indent="0" marL="0">
              <a:buNone/>
            </a:pPr>
            <a:r>
              <a:rPr lang="en-US" sz="1400" b="1" dirty="0">
                <a:solidFill>
                  <a:schemeClr val="tx1"/>
                </a:solidFill>
              </a:rPr>
              <a:t>Who uses it</a:t>
            </a:r>
            <a:endParaRPr lang="en-US" sz="1400" dirty="0"/>
          </a:p>
          <a:p>
            <a:pPr indent="0" marL="0">
              <a:buNone/>
            </a:pPr>
            <a:r>
              <a:rPr lang="en-US" sz="1250" dirty="0">
                <a:solidFill>
                  <a:schemeClr val="tx1"/>
                </a:solidFill>
              </a:rPr>
              <a:t>The motel manager and the housekeeping supervisor. They are not computer experts, so there is one main window, number boxes that only take numbers, and a question before anything that cannot be undone.</a:t>
            </a:r>
            <a:endParaRPr lang="en-US" sz="1400" dirty="0"/>
          </a:p>
        </p:txBody>
      </p:sp>
      <p:sp>
        <p:nvSpPr>
          <p:cNvPr id="6" name="FiAlertTriangle circle"/>
          <p:cNvSpPr/>
          <p:nvPr/>
        </p:nvSpPr>
        <p:spPr>
          <a:xfrm>
            <a:off x="4572000" y="1143000"/>
            <a:ext cx="502920" cy="502920"/>
          </a:xfrm>
          <a:prstGeom prst="ellipse">
            <a:avLst/>
          </a:prstGeom>
          <a:solidFill>
            <a:schemeClr val="accent4"/>
          </a:solidFill>
          <a:ln w="12700">
            <a:solidFill>
              <a:schemeClr val="accent4"/>
            </a:solidFill>
            <a:prstDash val="solid"/>
          </a:ln>
        </p:spPr>
      </p:sp>
      <p:pic>
        <p:nvPicPr>
          <p:cNvPr id="7" name="FiAlertTriangle icon" descr="preencoded.png">    </p:cNvPr>
          <p:cNvPicPr>
            <a:picLocks noChangeAspect="1"/>
          </p:cNvPicPr>
          <p:nvPr/>
        </p:nvPicPr>
        <p:blipFill>
          <a:blip r:embed="rId1"/>
          <a:stretch>
            <a:fillRect/>
          </a:stretch>
        </p:blipFill>
        <p:spPr>
          <a:xfrm>
            <a:off x="4692701" y="1263701"/>
            <a:ext cx="261518" cy="261518"/>
          </a:xfrm>
          <a:prstGeom prst="rect">
            <a:avLst/>
          </a:prstGeom>
        </p:spPr>
      </p:pic>
      <p:sp>
        <p:nvSpPr>
          <p:cNvPr id="8" name="Runs out mid-shift heading"/>
          <p:cNvSpPr txBox="1"/>
          <p:nvPr/>
        </p:nvSpPr>
        <p:spPr>
          <a:xfrm>
            <a:off x="5257800" y="1106424"/>
            <a:ext cx="3429000" cy="292608"/>
          </a:xfrm>
          <a:prstGeom prst="rect">
            <a:avLst/>
          </a:prstGeom>
          <a:noFill/>
          <a:ln/>
        </p:spPr>
        <p:txBody>
          <a:bodyPr wrap="square" lIns="0" tIns="0" rIns="0" bIns="0" rtlCol="0" anchor="ctr"/>
          <a:lstStyle/>
          <a:p>
            <a:pPr indent="0" marL="0">
              <a:buNone/>
            </a:pPr>
            <a:r>
              <a:rPr lang="en-US" sz="1500" b="1" dirty="0">
                <a:solidFill>
                  <a:schemeClr val="tx1"/>
                </a:solidFill>
              </a:rPr>
              <a:t>Runs out mid-shift</a:t>
            </a:r>
            <a:endParaRPr lang="en-US" sz="1500" dirty="0"/>
          </a:p>
        </p:txBody>
      </p:sp>
      <p:sp>
        <p:nvSpPr>
          <p:cNvPr id="9" name="Runs out mid-shift text"/>
          <p:cNvSpPr txBox="1"/>
          <p:nvPr/>
        </p:nvSpPr>
        <p:spPr>
          <a:xfrm>
            <a:off x="5257800" y="1399032"/>
            <a:ext cx="3429000" cy="548640"/>
          </a:xfrm>
          <a:prstGeom prst="rect">
            <a:avLst/>
          </a:prstGeom>
          <a:noFill/>
          <a:ln/>
        </p:spPr>
        <p:txBody>
          <a:bodyPr wrap="square" lIns="0" tIns="0" rIns="0" bIns="0" rtlCol="0" anchor="t"/>
          <a:lstStyle/>
          <a:p>
            <a:pPr indent="0" marL="0">
              <a:buNone/>
            </a:pPr>
            <a:r>
              <a:rPr lang="en-US" sz="1250" dirty="0">
                <a:solidFill>
                  <a:schemeClr val="tx1"/>
                </a:solidFill>
              </a:rPr>
              <a:t>No clean towels at 9 am means someone drives to the shops and pays full price.</a:t>
            </a:r>
            <a:endParaRPr lang="en-US" sz="1250" dirty="0"/>
          </a:p>
        </p:txBody>
      </p:sp>
      <p:sp>
        <p:nvSpPr>
          <p:cNvPr id="10" name="FiTrash2 circle"/>
          <p:cNvSpPr/>
          <p:nvPr/>
        </p:nvSpPr>
        <p:spPr>
          <a:xfrm>
            <a:off x="4572000" y="2240280"/>
            <a:ext cx="502920" cy="502920"/>
          </a:xfrm>
          <a:prstGeom prst="ellipse">
            <a:avLst/>
          </a:prstGeom>
          <a:solidFill>
            <a:schemeClr val="accent1"/>
          </a:solidFill>
          <a:ln w="12700">
            <a:solidFill>
              <a:schemeClr val="accent1"/>
            </a:solidFill>
            <a:prstDash val="solid"/>
          </a:ln>
        </p:spPr>
      </p:sp>
      <p:pic>
        <p:nvPicPr>
          <p:cNvPr id="11" name="FiTrash2 icon" descr="preencoded.png">    </p:cNvPr>
          <p:cNvPicPr>
            <a:picLocks noChangeAspect="1"/>
          </p:cNvPicPr>
          <p:nvPr/>
        </p:nvPicPr>
        <p:blipFill>
          <a:blip r:embed="rId2"/>
          <a:stretch>
            <a:fillRect/>
          </a:stretch>
        </p:blipFill>
        <p:spPr>
          <a:xfrm>
            <a:off x="4692701" y="2360981"/>
            <a:ext cx="261518" cy="261518"/>
          </a:xfrm>
          <a:prstGeom prst="rect">
            <a:avLst/>
          </a:prstGeom>
        </p:spPr>
      </p:pic>
      <p:sp>
        <p:nvSpPr>
          <p:cNvPr id="12" name="Over-orders, then throws away heading"/>
          <p:cNvSpPr txBox="1"/>
          <p:nvPr/>
        </p:nvSpPr>
        <p:spPr>
          <a:xfrm>
            <a:off x="5257800" y="2203704"/>
            <a:ext cx="3429000" cy="292608"/>
          </a:xfrm>
          <a:prstGeom prst="rect">
            <a:avLst/>
          </a:prstGeom>
          <a:noFill/>
          <a:ln/>
        </p:spPr>
        <p:txBody>
          <a:bodyPr wrap="square" lIns="0" tIns="0" rIns="0" bIns="0" rtlCol="0" anchor="ctr"/>
          <a:lstStyle/>
          <a:p>
            <a:pPr indent="0" marL="0">
              <a:buNone/>
            </a:pPr>
            <a:r>
              <a:rPr lang="en-US" sz="1500" b="1" dirty="0">
                <a:solidFill>
                  <a:schemeClr val="tx1"/>
                </a:solidFill>
              </a:rPr>
              <a:t>Over-orders, then throws away</a:t>
            </a:r>
            <a:endParaRPr lang="en-US" sz="1500" dirty="0"/>
          </a:p>
        </p:txBody>
      </p:sp>
      <p:sp>
        <p:nvSpPr>
          <p:cNvPr id="13" name="Over-orders, then throws away text"/>
          <p:cNvSpPr txBox="1"/>
          <p:nvPr/>
        </p:nvSpPr>
        <p:spPr>
          <a:xfrm>
            <a:off x="5257800" y="2496312"/>
            <a:ext cx="3429000" cy="548640"/>
          </a:xfrm>
          <a:prstGeom prst="rect">
            <a:avLst/>
          </a:prstGeom>
          <a:noFill/>
          <a:ln/>
        </p:spPr>
        <p:txBody>
          <a:bodyPr wrap="square" lIns="0" tIns="0" rIns="0" bIns="0" rtlCol="0" anchor="t"/>
          <a:lstStyle/>
          <a:p>
            <a:pPr indent="0" marL="0">
              <a:buNone/>
            </a:pPr>
            <a:r>
              <a:rPr lang="en-US" sz="1250" dirty="0">
                <a:solidFill>
                  <a:schemeClr val="tx1"/>
                </a:solidFill>
              </a:rPr>
              <a:t>Nobody knows what is left, so staff order extra. Milk and sanitiser go out of date on the shelf.</a:t>
            </a:r>
            <a:endParaRPr lang="en-US" sz="1250" dirty="0"/>
          </a:p>
        </p:txBody>
      </p:sp>
      <p:sp>
        <p:nvSpPr>
          <p:cNvPr id="14" name="FiUserX circle"/>
          <p:cNvSpPr/>
          <p:nvPr/>
        </p:nvSpPr>
        <p:spPr>
          <a:xfrm>
            <a:off x="4572000" y="3337560"/>
            <a:ext cx="502920" cy="502920"/>
          </a:xfrm>
          <a:prstGeom prst="ellipse">
            <a:avLst/>
          </a:prstGeom>
          <a:solidFill>
            <a:schemeClr val="accent2"/>
          </a:solidFill>
          <a:ln w="12700">
            <a:solidFill>
              <a:schemeClr val="accent2"/>
            </a:solidFill>
            <a:prstDash val="solid"/>
          </a:ln>
        </p:spPr>
      </p:sp>
      <p:pic>
        <p:nvPicPr>
          <p:cNvPr id="15" name="FiUserX icon" descr="preencoded.png">    </p:cNvPr>
          <p:cNvPicPr>
            <a:picLocks noChangeAspect="1"/>
          </p:cNvPicPr>
          <p:nvPr/>
        </p:nvPicPr>
        <p:blipFill>
          <a:blip r:embed="rId3"/>
          <a:stretch>
            <a:fillRect/>
          </a:stretch>
        </p:blipFill>
        <p:spPr>
          <a:xfrm>
            <a:off x="4692701" y="3458261"/>
            <a:ext cx="261518" cy="261518"/>
          </a:xfrm>
          <a:prstGeom prst="rect">
            <a:avLst/>
          </a:prstGeom>
        </p:spPr>
      </p:pic>
      <p:sp>
        <p:nvSpPr>
          <p:cNvPr id="16" name="No record of who took what heading"/>
          <p:cNvSpPr txBox="1"/>
          <p:nvPr/>
        </p:nvSpPr>
        <p:spPr>
          <a:xfrm>
            <a:off x="5257800" y="3300984"/>
            <a:ext cx="3429000" cy="292608"/>
          </a:xfrm>
          <a:prstGeom prst="rect">
            <a:avLst/>
          </a:prstGeom>
          <a:noFill/>
          <a:ln/>
        </p:spPr>
        <p:txBody>
          <a:bodyPr wrap="square" lIns="0" tIns="0" rIns="0" bIns="0" rtlCol="0" anchor="ctr"/>
          <a:lstStyle/>
          <a:p>
            <a:pPr indent="0" marL="0">
              <a:buNone/>
            </a:pPr>
            <a:r>
              <a:rPr lang="en-US" sz="1500" b="1" dirty="0">
                <a:solidFill>
                  <a:schemeClr val="tx1"/>
                </a:solidFill>
              </a:rPr>
              <a:t>No record of who took what</a:t>
            </a:r>
            <a:endParaRPr lang="en-US" sz="1500" dirty="0"/>
          </a:p>
        </p:txBody>
      </p:sp>
      <p:sp>
        <p:nvSpPr>
          <p:cNvPr id="17" name="No record of who took what text"/>
          <p:cNvSpPr txBox="1"/>
          <p:nvPr/>
        </p:nvSpPr>
        <p:spPr>
          <a:xfrm>
            <a:off x="5257800" y="3593592"/>
            <a:ext cx="3429000" cy="548640"/>
          </a:xfrm>
          <a:prstGeom prst="rect">
            <a:avLst/>
          </a:prstGeom>
          <a:noFill/>
          <a:ln/>
        </p:spPr>
        <p:txBody>
          <a:bodyPr wrap="square" lIns="0" tIns="0" rIns="0" bIns="0" rtlCol="0" anchor="t"/>
          <a:lstStyle/>
          <a:p>
            <a:pPr indent="0" marL="0">
              <a:buNone/>
            </a:pPr>
            <a:r>
              <a:rPr lang="en-US" sz="1250" dirty="0">
                <a:solidFill>
                  <a:schemeClr val="tx1"/>
                </a:solidFill>
              </a:rPr>
              <a:t>Stock leaves the storeroom and nobody can say where it went.</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8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What StockMate does</a:t>
            </a:r>
            <a:endParaRPr lang="en-US" sz="3000" dirty="0"/>
          </a:p>
        </p:txBody>
      </p:sp>
      <p:sp>
        <p:nvSpPr>
          <p:cNvPr id="3" name="Add and edit items card"/>
          <p:cNvSpPr/>
          <p:nvPr/>
        </p:nvSpPr>
        <p:spPr>
          <a:xfrm>
            <a:off x="457200" y="1097280"/>
            <a:ext cx="2651760" cy="1417320"/>
          </a:xfrm>
          <a:prstGeom prst="roundRect">
            <a:avLst>
              <a:gd name="adj" fmla="val 6452"/>
            </a:avLst>
          </a:prstGeom>
          <a:solidFill>
            <a:schemeClr val="bg2"/>
          </a:solidFill>
          <a:ln w="12700">
            <a:solidFill>
              <a:schemeClr val="bg2"/>
            </a:solidFill>
            <a:prstDash val="solid"/>
          </a:ln>
        </p:spPr>
      </p:sp>
      <p:sp>
        <p:nvSpPr>
          <p:cNvPr id="4" name="FiPackage circle"/>
          <p:cNvSpPr/>
          <p:nvPr/>
        </p:nvSpPr>
        <p:spPr>
          <a:xfrm>
            <a:off x="621792" y="1261872"/>
            <a:ext cx="457200" cy="457200"/>
          </a:xfrm>
          <a:prstGeom prst="ellipse">
            <a:avLst/>
          </a:prstGeom>
          <a:solidFill>
            <a:schemeClr val="accent2"/>
          </a:solidFill>
          <a:ln w="12700">
            <a:solidFill>
              <a:schemeClr val="accent2"/>
            </a:solidFill>
            <a:prstDash val="solid"/>
          </a:ln>
        </p:spPr>
      </p:sp>
      <p:pic>
        <p:nvPicPr>
          <p:cNvPr id="5" name="FiPackage icon" descr="preencoded.png">    </p:cNvPr>
          <p:cNvPicPr>
            <a:picLocks noChangeAspect="1"/>
          </p:cNvPicPr>
          <p:nvPr/>
        </p:nvPicPr>
        <p:blipFill>
          <a:blip r:embed="rId1"/>
          <a:stretch>
            <a:fillRect/>
          </a:stretch>
        </p:blipFill>
        <p:spPr>
          <a:xfrm>
            <a:off x="731520" y="1371600"/>
            <a:ext cx="237744" cy="237744"/>
          </a:xfrm>
          <a:prstGeom prst="rect">
            <a:avLst/>
          </a:prstGeom>
        </p:spPr>
      </p:pic>
      <p:sp>
        <p:nvSpPr>
          <p:cNvPr id="6" name="Add and edit items heading"/>
          <p:cNvSpPr txBox="1"/>
          <p:nvPr/>
        </p:nvSpPr>
        <p:spPr>
          <a:xfrm>
            <a:off x="1188720" y="1261872"/>
            <a:ext cx="1828800" cy="457200"/>
          </a:xfrm>
          <a:prstGeom prst="rect">
            <a:avLst/>
          </a:prstGeom>
          <a:noFill/>
          <a:ln/>
        </p:spPr>
        <p:txBody>
          <a:bodyPr wrap="square" lIns="0" tIns="0" rIns="0" bIns="0" rtlCol="0" anchor="ctr"/>
          <a:lstStyle/>
          <a:p>
            <a:pPr indent="0" marL="0">
              <a:buNone/>
            </a:pPr>
            <a:r>
              <a:rPr lang="en-US" sz="1400" b="1" dirty="0">
                <a:solidFill>
                  <a:schemeClr val="tx1"/>
                </a:solidFill>
              </a:rPr>
              <a:t>Add and edit items</a:t>
            </a:r>
            <a:endParaRPr lang="en-US" sz="1400" dirty="0"/>
          </a:p>
        </p:txBody>
      </p:sp>
      <p:sp>
        <p:nvSpPr>
          <p:cNvPr id="7" name="Add and edit items text"/>
          <p:cNvSpPr txBox="1"/>
          <p:nvPr/>
        </p:nvSpPr>
        <p:spPr>
          <a:xfrm>
            <a:off x="621792" y="1810512"/>
            <a:ext cx="2331720" cy="640080"/>
          </a:xfrm>
          <a:prstGeom prst="rect">
            <a:avLst/>
          </a:prstGeom>
          <a:noFill/>
          <a:ln/>
        </p:spPr>
        <p:txBody>
          <a:bodyPr wrap="square" lIns="0" tIns="0" rIns="0" bIns="0" rtlCol="0" anchor="t"/>
          <a:lstStyle/>
          <a:p>
            <a:pPr indent="0" marL="0">
              <a:buNone/>
            </a:pPr>
            <a:r>
              <a:rPr lang="en-US" sz="1150" dirty="0">
                <a:solidFill>
                  <a:schemeClr val="tx1"/>
                </a:solidFill>
              </a:rPr>
              <a:t>Consumables have a use-by date; durables have a replacement interval.</a:t>
            </a:r>
            <a:endParaRPr lang="en-US" sz="1150" dirty="0"/>
          </a:p>
        </p:txBody>
      </p:sp>
      <p:sp>
        <p:nvSpPr>
          <p:cNvPr id="8" name="Receipts and issues card"/>
          <p:cNvSpPr/>
          <p:nvPr/>
        </p:nvSpPr>
        <p:spPr>
          <a:xfrm>
            <a:off x="3291840" y="1097280"/>
            <a:ext cx="2651760" cy="1417320"/>
          </a:xfrm>
          <a:prstGeom prst="roundRect">
            <a:avLst>
              <a:gd name="adj" fmla="val 6452"/>
            </a:avLst>
          </a:prstGeom>
          <a:solidFill>
            <a:schemeClr val="bg2"/>
          </a:solidFill>
          <a:ln w="12700">
            <a:solidFill>
              <a:schemeClr val="bg2"/>
            </a:solidFill>
            <a:prstDash val="solid"/>
          </a:ln>
        </p:spPr>
      </p:sp>
      <p:sp>
        <p:nvSpPr>
          <p:cNvPr id="9" name="FiTruck circle"/>
          <p:cNvSpPr/>
          <p:nvPr/>
        </p:nvSpPr>
        <p:spPr>
          <a:xfrm>
            <a:off x="3456432" y="1261872"/>
            <a:ext cx="457200" cy="457200"/>
          </a:xfrm>
          <a:prstGeom prst="ellipse">
            <a:avLst/>
          </a:prstGeom>
          <a:solidFill>
            <a:schemeClr val="accent1"/>
          </a:solidFill>
          <a:ln w="12700">
            <a:solidFill>
              <a:schemeClr val="accent1"/>
            </a:solidFill>
            <a:prstDash val="solid"/>
          </a:ln>
        </p:spPr>
      </p:sp>
      <p:pic>
        <p:nvPicPr>
          <p:cNvPr id="10" name="FiTruck icon" descr="preencoded.png">    </p:cNvPr>
          <p:cNvPicPr>
            <a:picLocks noChangeAspect="1"/>
          </p:cNvPicPr>
          <p:nvPr/>
        </p:nvPicPr>
        <p:blipFill>
          <a:blip r:embed="rId2"/>
          <a:stretch>
            <a:fillRect/>
          </a:stretch>
        </p:blipFill>
        <p:spPr>
          <a:xfrm>
            <a:off x="3566160" y="1371600"/>
            <a:ext cx="237744" cy="237744"/>
          </a:xfrm>
          <a:prstGeom prst="rect">
            <a:avLst/>
          </a:prstGeom>
        </p:spPr>
      </p:pic>
      <p:sp>
        <p:nvSpPr>
          <p:cNvPr id="11" name="Receipts and issues heading"/>
          <p:cNvSpPr txBox="1"/>
          <p:nvPr/>
        </p:nvSpPr>
        <p:spPr>
          <a:xfrm>
            <a:off x="4023360" y="1261872"/>
            <a:ext cx="1828800" cy="457200"/>
          </a:xfrm>
          <a:prstGeom prst="rect">
            <a:avLst/>
          </a:prstGeom>
          <a:noFill/>
          <a:ln/>
        </p:spPr>
        <p:txBody>
          <a:bodyPr wrap="square" lIns="0" tIns="0" rIns="0" bIns="0" rtlCol="0" anchor="ctr"/>
          <a:lstStyle/>
          <a:p>
            <a:pPr indent="0" marL="0">
              <a:buNone/>
            </a:pPr>
            <a:r>
              <a:rPr lang="en-US" sz="1400" b="1" dirty="0">
                <a:solidFill>
                  <a:schemeClr val="tx1"/>
                </a:solidFill>
              </a:rPr>
              <a:t>Receipts and issues</a:t>
            </a:r>
            <a:endParaRPr lang="en-US" sz="1400" dirty="0"/>
          </a:p>
        </p:txBody>
      </p:sp>
      <p:sp>
        <p:nvSpPr>
          <p:cNvPr id="12" name="Receipts and issues text"/>
          <p:cNvSpPr txBox="1"/>
          <p:nvPr/>
        </p:nvSpPr>
        <p:spPr>
          <a:xfrm>
            <a:off x="3456432" y="1810512"/>
            <a:ext cx="2331720" cy="640080"/>
          </a:xfrm>
          <a:prstGeom prst="rect">
            <a:avLst/>
          </a:prstGeom>
          <a:noFill/>
          <a:ln/>
        </p:spPr>
        <p:txBody>
          <a:bodyPr wrap="square" lIns="0" tIns="0" rIns="0" bIns="0" rtlCol="0" anchor="t"/>
          <a:lstStyle/>
          <a:p>
            <a:pPr indent="0" marL="0">
              <a:buNone/>
            </a:pPr>
            <a:r>
              <a:rPr lang="en-US" sz="1150" dirty="0">
                <a:solidFill>
                  <a:schemeClr val="tx1"/>
                </a:solidFill>
              </a:rPr>
              <a:t>Every movement saves the date and the staff member's name.</a:t>
            </a:r>
            <a:endParaRPr lang="en-US" sz="1150" dirty="0"/>
          </a:p>
        </p:txBody>
      </p:sp>
      <p:sp>
        <p:nvSpPr>
          <p:cNvPr id="13" name="Warnings on start-up card"/>
          <p:cNvSpPr/>
          <p:nvPr/>
        </p:nvSpPr>
        <p:spPr>
          <a:xfrm>
            <a:off x="6126480" y="1097280"/>
            <a:ext cx="2651760" cy="1417320"/>
          </a:xfrm>
          <a:prstGeom prst="roundRect">
            <a:avLst>
              <a:gd name="adj" fmla="val 6452"/>
            </a:avLst>
          </a:prstGeom>
          <a:solidFill>
            <a:schemeClr val="bg2"/>
          </a:solidFill>
          <a:ln w="12700">
            <a:solidFill>
              <a:schemeClr val="bg2"/>
            </a:solidFill>
            <a:prstDash val="solid"/>
          </a:ln>
        </p:spPr>
      </p:sp>
      <p:sp>
        <p:nvSpPr>
          <p:cNvPr id="14" name="FiBell circle"/>
          <p:cNvSpPr/>
          <p:nvPr/>
        </p:nvSpPr>
        <p:spPr>
          <a:xfrm>
            <a:off x="6291072" y="1261872"/>
            <a:ext cx="457200" cy="457200"/>
          </a:xfrm>
          <a:prstGeom prst="ellipse">
            <a:avLst/>
          </a:prstGeom>
          <a:solidFill>
            <a:schemeClr val="accent4"/>
          </a:solidFill>
          <a:ln w="12700">
            <a:solidFill>
              <a:schemeClr val="accent4"/>
            </a:solidFill>
            <a:prstDash val="solid"/>
          </a:ln>
        </p:spPr>
      </p:sp>
      <p:pic>
        <p:nvPicPr>
          <p:cNvPr id="15" name="FiBell icon" descr="preencoded.png">    </p:cNvPr>
          <p:cNvPicPr>
            <a:picLocks noChangeAspect="1"/>
          </p:cNvPicPr>
          <p:nvPr/>
        </p:nvPicPr>
        <p:blipFill>
          <a:blip r:embed="rId3"/>
          <a:stretch>
            <a:fillRect/>
          </a:stretch>
        </p:blipFill>
        <p:spPr>
          <a:xfrm>
            <a:off x="6400800" y="1371600"/>
            <a:ext cx="237744" cy="237744"/>
          </a:xfrm>
          <a:prstGeom prst="rect">
            <a:avLst/>
          </a:prstGeom>
        </p:spPr>
      </p:pic>
      <p:sp>
        <p:nvSpPr>
          <p:cNvPr id="16" name="Warnings on start-up heading"/>
          <p:cNvSpPr txBox="1"/>
          <p:nvPr/>
        </p:nvSpPr>
        <p:spPr>
          <a:xfrm>
            <a:off x="6858000" y="1261872"/>
            <a:ext cx="1828800" cy="457200"/>
          </a:xfrm>
          <a:prstGeom prst="rect">
            <a:avLst/>
          </a:prstGeom>
          <a:noFill/>
          <a:ln/>
        </p:spPr>
        <p:txBody>
          <a:bodyPr wrap="square" lIns="0" tIns="0" rIns="0" bIns="0" rtlCol="0" anchor="ctr"/>
          <a:lstStyle/>
          <a:p>
            <a:pPr indent="0" marL="0">
              <a:buNone/>
            </a:pPr>
            <a:r>
              <a:rPr lang="en-US" sz="1400" b="1" dirty="0">
                <a:solidFill>
                  <a:schemeClr val="tx1"/>
                </a:solidFill>
              </a:rPr>
              <a:t>Warnings on start-up</a:t>
            </a:r>
            <a:endParaRPr lang="en-US" sz="1400" dirty="0"/>
          </a:p>
        </p:txBody>
      </p:sp>
      <p:sp>
        <p:nvSpPr>
          <p:cNvPr id="17" name="Warnings on start-up text"/>
          <p:cNvSpPr txBox="1"/>
          <p:nvPr/>
        </p:nvSpPr>
        <p:spPr>
          <a:xfrm>
            <a:off x="6291072" y="1810512"/>
            <a:ext cx="2331720" cy="640080"/>
          </a:xfrm>
          <a:prstGeom prst="rect">
            <a:avLst/>
          </a:prstGeom>
          <a:noFill/>
          <a:ln/>
        </p:spPr>
        <p:txBody>
          <a:bodyPr wrap="square" lIns="0" tIns="0" rIns="0" bIns="0" rtlCol="0" anchor="t"/>
          <a:lstStyle/>
          <a:p>
            <a:pPr indent="0" marL="0">
              <a:buNone/>
            </a:pPr>
            <a:r>
              <a:rPr lang="en-US" sz="1150" dirty="0">
                <a:solidFill>
                  <a:schemeClr val="tx1"/>
                </a:solidFill>
              </a:rPr>
              <a:t>Low stock, expiring within 30 days, expired, due for replacement.</a:t>
            </a:r>
            <a:endParaRPr lang="en-US" sz="1150" dirty="0"/>
          </a:p>
        </p:txBody>
      </p:sp>
      <p:sp>
        <p:nvSpPr>
          <p:cNvPr id="18" name="History for one item card"/>
          <p:cNvSpPr/>
          <p:nvPr/>
        </p:nvSpPr>
        <p:spPr>
          <a:xfrm>
            <a:off x="457200" y="2697480"/>
            <a:ext cx="2651760" cy="1417320"/>
          </a:xfrm>
          <a:prstGeom prst="roundRect">
            <a:avLst>
              <a:gd name="adj" fmla="val 6452"/>
            </a:avLst>
          </a:prstGeom>
          <a:solidFill>
            <a:schemeClr val="bg2"/>
          </a:solidFill>
          <a:ln w="12700">
            <a:solidFill>
              <a:schemeClr val="bg2"/>
            </a:solidFill>
            <a:prstDash val="solid"/>
          </a:ln>
        </p:spPr>
      </p:sp>
      <p:sp>
        <p:nvSpPr>
          <p:cNvPr id="19" name="FiClock circle"/>
          <p:cNvSpPr/>
          <p:nvPr/>
        </p:nvSpPr>
        <p:spPr>
          <a:xfrm>
            <a:off x="621792" y="2862072"/>
            <a:ext cx="457200" cy="457200"/>
          </a:xfrm>
          <a:prstGeom prst="ellipse">
            <a:avLst/>
          </a:prstGeom>
          <a:solidFill>
            <a:schemeClr val="accent2"/>
          </a:solidFill>
          <a:ln w="12700">
            <a:solidFill>
              <a:schemeClr val="accent2"/>
            </a:solidFill>
            <a:prstDash val="solid"/>
          </a:ln>
        </p:spPr>
      </p:sp>
      <p:pic>
        <p:nvPicPr>
          <p:cNvPr id="20" name="FiClock icon" descr="preencoded.png">    </p:cNvPr>
          <p:cNvPicPr>
            <a:picLocks noChangeAspect="1"/>
          </p:cNvPicPr>
          <p:nvPr/>
        </p:nvPicPr>
        <p:blipFill>
          <a:blip r:embed="rId4"/>
          <a:stretch>
            <a:fillRect/>
          </a:stretch>
        </p:blipFill>
        <p:spPr>
          <a:xfrm>
            <a:off x="731520" y="2971800"/>
            <a:ext cx="237744" cy="237744"/>
          </a:xfrm>
          <a:prstGeom prst="rect">
            <a:avLst/>
          </a:prstGeom>
        </p:spPr>
      </p:pic>
      <p:sp>
        <p:nvSpPr>
          <p:cNvPr id="21" name="History for one item heading"/>
          <p:cNvSpPr txBox="1"/>
          <p:nvPr/>
        </p:nvSpPr>
        <p:spPr>
          <a:xfrm>
            <a:off x="1188720" y="2862072"/>
            <a:ext cx="1828800" cy="457200"/>
          </a:xfrm>
          <a:prstGeom prst="rect">
            <a:avLst/>
          </a:prstGeom>
          <a:noFill/>
          <a:ln/>
        </p:spPr>
        <p:txBody>
          <a:bodyPr wrap="square" lIns="0" tIns="0" rIns="0" bIns="0" rtlCol="0" anchor="ctr"/>
          <a:lstStyle/>
          <a:p>
            <a:pPr indent="0" marL="0">
              <a:buNone/>
            </a:pPr>
            <a:r>
              <a:rPr lang="en-US" sz="1400" b="1" dirty="0">
                <a:solidFill>
                  <a:schemeClr val="tx1"/>
                </a:solidFill>
              </a:rPr>
              <a:t>History for one item</a:t>
            </a:r>
            <a:endParaRPr lang="en-US" sz="1400" dirty="0"/>
          </a:p>
        </p:txBody>
      </p:sp>
      <p:sp>
        <p:nvSpPr>
          <p:cNvPr id="22" name="History for one item text"/>
          <p:cNvSpPr txBox="1"/>
          <p:nvPr/>
        </p:nvSpPr>
        <p:spPr>
          <a:xfrm>
            <a:off x="621792" y="3410712"/>
            <a:ext cx="2331720" cy="640080"/>
          </a:xfrm>
          <a:prstGeom prst="rect">
            <a:avLst/>
          </a:prstGeom>
          <a:noFill/>
          <a:ln/>
        </p:spPr>
        <p:txBody>
          <a:bodyPr wrap="square" lIns="0" tIns="0" rIns="0" bIns="0" rtlCol="0" anchor="t"/>
          <a:lstStyle/>
          <a:p>
            <a:pPr indent="0" marL="0">
              <a:buNone/>
            </a:pPr>
            <a:r>
              <a:rPr lang="en-US" sz="1150" dirty="0">
                <a:solidFill>
                  <a:schemeClr val="tx1"/>
                </a:solidFill>
              </a:rPr>
              <a:t>Every receipt and issue, newest first, with a copy-as-text button.</a:t>
            </a:r>
            <a:endParaRPr lang="en-US" sz="1150" dirty="0"/>
          </a:p>
        </p:txBody>
      </p:sp>
      <p:sp>
        <p:nvSpPr>
          <p:cNvPr id="23" name="Export to CSV card"/>
          <p:cNvSpPr/>
          <p:nvPr/>
        </p:nvSpPr>
        <p:spPr>
          <a:xfrm>
            <a:off x="3291840" y="2697480"/>
            <a:ext cx="2651760" cy="1417320"/>
          </a:xfrm>
          <a:prstGeom prst="roundRect">
            <a:avLst>
              <a:gd name="adj" fmla="val 6452"/>
            </a:avLst>
          </a:prstGeom>
          <a:solidFill>
            <a:schemeClr val="bg2"/>
          </a:solidFill>
          <a:ln w="12700">
            <a:solidFill>
              <a:schemeClr val="bg2"/>
            </a:solidFill>
            <a:prstDash val="solid"/>
          </a:ln>
        </p:spPr>
      </p:sp>
      <p:sp>
        <p:nvSpPr>
          <p:cNvPr id="24" name="FiFileText circle"/>
          <p:cNvSpPr/>
          <p:nvPr/>
        </p:nvSpPr>
        <p:spPr>
          <a:xfrm>
            <a:off x="3456432" y="2862072"/>
            <a:ext cx="457200" cy="457200"/>
          </a:xfrm>
          <a:prstGeom prst="ellipse">
            <a:avLst/>
          </a:prstGeom>
          <a:solidFill>
            <a:schemeClr val="accent3"/>
          </a:solidFill>
          <a:ln w="12700">
            <a:solidFill>
              <a:schemeClr val="accent3"/>
            </a:solidFill>
            <a:prstDash val="solid"/>
          </a:ln>
        </p:spPr>
      </p:sp>
      <p:pic>
        <p:nvPicPr>
          <p:cNvPr id="25" name="FiFileText icon" descr="preencoded.png">    </p:cNvPr>
          <p:cNvPicPr>
            <a:picLocks noChangeAspect="1"/>
          </p:cNvPicPr>
          <p:nvPr/>
        </p:nvPicPr>
        <p:blipFill>
          <a:blip r:embed="rId5"/>
          <a:stretch>
            <a:fillRect/>
          </a:stretch>
        </p:blipFill>
        <p:spPr>
          <a:xfrm>
            <a:off x="3566160" y="2971800"/>
            <a:ext cx="237744" cy="237744"/>
          </a:xfrm>
          <a:prstGeom prst="rect">
            <a:avLst/>
          </a:prstGeom>
        </p:spPr>
      </p:pic>
      <p:sp>
        <p:nvSpPr>
          <p:cNvPr id="26" name="Export to CSV heading"/>
          <p:cNvSpPr txBox="1"/>
          <p:nvPr/>
        </p:nvSpPr>
        <p:spPr>
          <a:xfrm>
            <a:off x="4023360" y="2862072"/>
            <a:ext cx="1828800" cy="457200"/>
          </a:xfrm>
          <a:prstGeom prst="rect">
            <a:avLst/>
          </a:prstGeom>
          <a:noFill/>
          <a:ln/>
        </p:spPr>
        <p:txBody>
          <a:bodyPr wrap="square" lIns="0" tIns="0" rIns="0" bIns="0" rtlCol="0" anchor="ctr"/>
          <a:lstStyle/>
          <a:p>
            <a:pPr indent="0" marL="0">
              <a:buNone/>
            </a:pPr>
            <a:r>
              <a:rPr lang="en-US" sz="1400" b="1" dirty="0">
                <a:solidFill>
                  <a:schemeClr val="tx1"/>
                </a:solidFill>
              </a:rPr>
              <a:t>Export to CSV</a:t>
            </a:r>
            <a:endParaRPr lang="en-US" sz="1400" dirty="0"/>
          </a:p>
        </p:txBody>
      </p:sp>
      <p:sp>
        <p:nvSpPr>
          <p:cNvPr id="27" name="Export to CSV text"/>
          <p:cNvSpPr txBox="1"/>
          <p:nvPr/>
        </p:nvSpPr>
        <p:spPr>
          <a:xfrm>
            <a:off x="3456432" y="3410712"/>
            <a:ext cx="2331720" cy="640080"/>
          </a:xfrm>
          <a:prstGeom prst="rect">
            <a:avLst/>
          </a:prstGeom>
          <a:noFill/>
          <a:ln/>
        </p:spPr>
        <p:txBody>
          <a:bodyPr wrap="square" lIns="0" tIns="0" rIns="0" bIns="0" rtlCol="0" anchor="t"/>
          <a:lstStyle/>
          <a:p>
            <a:pPr indent="0" marL="0">
              <a:buNone/>
            </a:pPr>
            <a:r>
              <a:rPr lang="en-US" sz="1150" dirty="0">
                <a:solidFill>
                  <a:schemeClr val="tx1"/>
                </a:solidFill>
              </a:rPr>
              <a:t>The list on screen, with its total value, in a file Excel opens.</a:t>
            </a:r>
            <a:endParaRPr lang="en-US" sz="1150" dirty="0"/>
          </a:p>
        </p:txBody>
      </p:sp>
      <p:sp>
        <p:nvSpPr>
          <p:cNvPr id="28" name="Deactivate, never delete card"/>
          <p:cNvSpPr/>
          <p:nvPr/>
        </p:nvSpPr>
        <p:spPr>
          <a:xfrm>
            <a:off x="6126480" y="2697480"/>
            <a:ext cx="2651760" cy="1417320"/>
          </a:xfrm>
          <a:prstGeom prst="roundRect">
            <a:avLst>
              <a:gd name="adj" fmla="val 6452"/>
            </a:avLst>
          </a:prstGeom>
          <a:solidFill>
            <a:schemeClr val="bg2"/>
          </a:solidFill>
          <a:ln w="12700">
            <a:solidFill>
              <a:schemeClr val="bg2"/>
            </a:solidFill>
            <a:prstDash val="solid"/>
          </a:ln>
        </p:spPr>
      </p:sp>
      <p:sp>
        <p:nvSpPr>
          <p:cNvPr id="29" name="FiArchive circle"/>
          <p:cNvSpPr/>
          <p:nvPr/>
        </p:nvSpPr>
        <p:spPr>
          <a:xfrm>
            <a:off x="6291072" y="2862072"/>
            <a:ext cx="457200" cy="457200"/>
          </a:xfrm>
          <a:prstGeom prst="ellipse">
            <a:avLst/>
          </a:prstGeom>
          <a:solidFill>
            <a:schemeClr val="accent5"/>
          </a:solidFill>
          <a:ln w="12700">
            <a:solidFill>
              <a:schemeClr val="accent5"/>
            </a:solidFill>
            <a:prstDash val="solid"/>
          </a:ln>
        </p:spPr>
      </p:sp>
      <p:pic>
        <p:nvPicPr>
          <p:cNvPr id="30" name="FiArchive icon" descr="preencoded.png">    </p:cNvPr>
          <p:cNvPicPr>
            <a:picLocks noChangeAspect="1"/>
          </p:cNvPicPr>
          <p:nvPr/>
        </p:nvPicPr>
        <p:blipFill>
          <a:blip r:embed="rId6"/>
          <a:stretch>
            <a:fillRect/>
          </a:stretch>
        </p:blipFill>
        <p:spPr>
          <a:xfrm>
            <a:off x="6400800" y="2971800"/>
            <a:ext cx="237744" cy="237744"/>
          </a:xfrm>
          <a:prstGeom prst="rect">
            <a:avLst/>
          </a:prstGeom>
        </p:spPr>
      </p:pic>
      <p:sp>
        <p:nvSpPr>
          <p:cNvPr id="31" name="Deactivate, never delete heading"/>
          <p:cNvSpPr txBox="1"/>
          <p:nvPr/>
        </p:nvSpPr>
        <p:spPr>
          <a:xfrm>
            <a:off x="6858000" y="2862072"/>
            <a:ext cx="1828800" cy="457200"/>
          </a:xfrm>
          <a:prstGeom prst="rect">
            <a:avLst/>
          </a:prstGeom>
          <a:noFill/>
          <a:ln/>
        </p:spPr>
        <p:txBody>
          <a:bodyPr wrap="square" lIns="0" tIns="0" rIns="0" bIns="0" rtlCol="0" anchor="ctr"/>
          <a:lstStyle/>
          <a:p>
            <a:pPr indent="0" marL="0">
              <a:buNone/>
            </a:pPr>
            <a:r>
              <a:rPr lang="en-US" sz="1400" b="1" dirty="0">
                <a:solidFill>
                  <a:schemeClr val="tx1"/>
                </a:solidFill>
              </a:rPr>
              <a:t>Deactivate, never delete</a:t>
            </a:r>
            <a:endParaRPr lang="en-US" sz="1400" dirty="0"/>
          </a:p>
        </p:txBody>
      </p:sp>
      <p:sp>
        <p:nvSpPr>
          <p:cNvPr id="32" name="Deactivate, never delete text"/>
          <p:cNvSpPr txBox="1"/>
          <p:nvPr/>
        </p:nvSpPr>
        <p:spPr>
          <a:xfrm>
            <a:off x="6291072" y="3410712"/>
            <a:ext cx="2331720" cy="640080"/>
          </a:xfrm>
          <a:prstGeom prst="rect">
            <a:avLst/>
          </a:prstGeom>
          <a:noFill/>
          <a:ln/>
        </p:spPr>
        <p:txBody>
          <a:bodyPr wrap="square" lIns="0" tIns="0" rIns="0" bIns="0" rtlCol="0" anchor="t"/>
          <a:lstStyle/>
          <a:p>
            <a:pPr indent="0" marL="0">
              <a:buNone/>
            </a:pPr>
            <a:r>
              <a:rPr lang="en-US" sz="1150" dirty="0">
                <a:solidFill>
                  <a:schemeClr val="tx1"/>
                </a:solidFill>
              </a:rPr>
              <a:t>The item leaves the list but its history is kept.</a:t>
            </a:r>
            <a:endParaRPr lang="en-US" sz="1150" dirty="0"/>
          </a:p>
        </p:txBody>
      </p:sp>
      <p:sp>
        <p:nvSpPr>
          <p:cNvPr id="33" name="requirements line"/>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250" i="1" dirty="0">
                <a:solidFill>
                  <a:schemeClr val="accent2"/>
                </a:solidFill>
              </a:rPr>
              <a:t>All eight functional requirements from my Milestone 1 proposal are built, including the two I had marked as extras.</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8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Live demo</a:t>
            </a:r>
            <a:endParaRPr lang="en-US" sz="3000" dirty="0"/>
          </a:p>
        </p:txBody>
      </p:sp>
      <p:sp>
        <p:nvSpPr>
          <p:cNvPr id="3" name="step 1 number"/>
          <p:cNvSpPr/>
          <p:nvPr/>
        </p:nvSpPr>
        <p:spPr>
          <a:xfrm>
            <a:off x="457200" y="1097280"/>
            <a:ext cx="365760" cy="365760"/>
          </a:xfrm>
          <a:prstGeom prst="ellipse">
            <a:avLst/>
          </a:prstGeom>
          <a:solidFill>
            <a:schemeClr val="accent1"/>
          </a:solidFill>
          <a:ln w="12700">
            <a:solidFill>
              <a:schemeClr val="accent1"/>
            </a:solidFill>
            <a:prstDash val="solid"/>
          </a:ln>
        </p:spPr>
      </p:sp>
      <p:sp>
        <p:nvSpPr>
          <p:cNvPr id="4" name="step 1 digit"/>
          <p:cNvSpPr txBox="1"/>
          <p:nvPr/>
        </p:nvSpPr>
        <p:spPr>
          <a:xfrm>
            <a:off x="457200" y="10972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step 1 text"/>
          <p:cNvSpPr txBox="1"/>
          <p:nvPr/>
        </p:nvSpPr>
        <p:spPr>
          <a:xfrm>
            <a:off x="960120" y="1078992"/>
            <a:ext cx="3749040" cy="402336"/>
          </a:xfrm>
          <a:prstGeom prst="rect">
            <a:avLst/>
          </a:prstGeom>
          <a:noFill/>
          <a:ln/>
        </p:spPr>
        <p:txBody>
          <a:bodyPr wrap="square" lIns="0" tIns="0" rIns="0" bIns="0" rtlCol="0" anchor="ctr"/>
          <a:lstStyle/>
          <a:p>
            <a:pPr indent="0" marL="0">
              <a:buNone/>
            </a:pPr>
            <a:r>
              <a:rPr lang="en-US" sz="1300" b="1" dirty="0">
                <a:solidFill>
                  <a:schemeClr val="tx1"/>
                </a:solidFill>
              </a:rPr>
              <a:t>Open StockMate</a:t>
            </a:r>
            <a:pPr indent="0" marL="0">
              <a:buNone/>
            </a:pPr>
            <a:r>
              <a:rPr lang="en-US" sz="1300" dirty="0">
                <a:solidFill>
                  <a:schemeClr val="tx1"/>
                </a:solidFill>
              </a:rPr>
              <a:t>  —  the warning list fills itself</a:t>
            </a:r>
            <a:endParaRPr lang="en-US" sz="1300" dirty="0"/>
          </a:p>
        </p:txBody>
      </p:sp>
      <p:sp>
        <p:nvSpPr>
          <p:cNvPr id="6" name="step 2 number"/>
          <p:cNvSpPr/>
          <p:nvPr/>
        </p:nvSpPr>
        <p:spPr>
          <a:xfrm>
            <a:off x="457200" y="1581912"/>
            <a:ext cx="365760" cy="365760"/>
          </a:xfrm>
          <a:prstGeom prst="ellipse">
            <a:avLst/>
          </a:prstGeom>
          <a:solidFill>
            <a:schemeClr val="accent1"/>
          </a:solidFill>
          <a:ln w="12700">
            <a:solidFill>
              <a:schemeClr val="accent1"/>
            </a:solidFill>
            <a:prstDash val="solid"/>
          </a:ln>
        </p:spPr>
      </p:sp>
      <p:sp>
        <p:nvSpPr>
          <p:cNvPr id="7" name="step 2 digit"/>
          <p:cNvSpPr txBox="1"/>
          <p:nvPr/>
        </p:nvSpPr>
        <p:spPr>
          <a:xfrm>
            <a:off x="457200" y="158191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step 2 text"/>
          <p:cNvSpPr txBox="1"/>
          <p:nvPr/>
        </p:nvSpPr>
        <p:spPr>
          <a:xfrm>
            <a:off x="960120" y="1563624"/>
            <a:ext cx="3749040" cy="402336"/>
          </a:xfrm>
          <a:prstGeom prst="rect">
            <a:avLst/>
          </a:prstGeom>
          <a:noFill/>
          <a:ln/>
        </p:spPr>
        <p:txBody>
          <a:bodyPr wrap="square" lIns="0" tIns="0" rIns="0" bIns="0" rtlCol="0" anchor="ctr"/>
          <a:lstStyle/>
          <a:p>
            <a:pPr indent="0" marL="0">
              <a:buNone/>
            </a:pPr>
            <a:r>
              <a:rPr lang="en-US" sz="1300" b="1" dirty="0">
                <a:solidFill>
                  <a:schemeClr val="tx1"/>
                </a:solidFill>
              </a:rPr>
              <a:t>Add an item</a:t>
            </a:r>
            <a:pPr indent="0" marL="0">
              <a:buNone/>
            </a:pPr>
            <a:r>
              <a:rPr lang="en-US" sz="1300" dirty="0">
                <a:solidFill>
                  <a:schemeClr val="tx1"/>
                </a:solidFill>
              </a:rPr>
              <a:t>  —  try a blank name first, then a real one</a:t>
            </a:r>
            <a:endParaRPr lang="en-US" sz="1300" dirty="0"/>
          </a:p>
        </p:txBody>
      </p:sp>
      <p:sp>
        <p:nvSpPr>
          <p:cNvPr id="9" name="step 3 number"/>
          <p:cNvSpPr/>
          <p:nvPr/>
        </p:nvSpPr>
        <p:spPr>
          <a:xfrm>
            <a:off x="457200" y="2066544"/>
            <a:ext cx="365760" cy="365760"/>
          </a:xfrm>
          <a:prstGeom prst="ellipse">
            <a:avLst/>
          </a:prstGeom>
          <a:solidFill>
            <a:schemeClr val="accent1"/>
          </a:solidFill>
          <a:ln w="12700">
            <a:solidFill>
              <a:schemeClr val="accent1"/>
            </a:solidFill>
            <a:prstDash val="solid"/>
          </a:ln>
        </p:spPr>
      </p:sp>
      <p:sp>
        <p:nvSpPr>
          <p:cNvPr id="10" name="step 3 digit"/>
          <p:cNvSpPr txBox="1"/>
          <p:nvPr/>
        </p:nvSpPr>
        <p:spPr>
          <a:xfrm>
            <a:off x="457200" y="206654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step 3 text"/>
          <p:cNvSpPr txBox="1"/>
          <p:nvPr/>
        </p:nvSpPr>
        <p:spPr>
          <a:xfrm>
            <a:off x="960120" y="2048256"/>
            <a:ext cx="3749040" cy="402336"/>
          </a:xfrm>
          <a:prstGeom prst="rect">
            <a:avLst/>
          </a:prstGeom>
          <a:noFill/>
          <a:ln/>
        </p:spPr>
        <p:txBody>
          <a:bodyPr wrap="square" lIns="0" tIns="0" rIns="0" bIns="0" rtlCol="0" anchor="ctr"/>
          <a:lstStyle/>
          <a:p>
            <a:pPr indent="0" marL="0">
              <a:buNone/>
            </a:pPr>
            <a:r>
              <a:rPr lang="en-US" sz="1300" b="1" dirty="0">
                <a:solidFill>
                  <a:schemeClr val="tx1"/>
                </a:solidFill>
              </a:rPr>
              <a:t>Record a delivery</a:t>
            </a:r>
            <a:pPr indent="0" marL="0">
              <a:buNone/>
            </a:pPr>
            <a:r>
              <a:rPr lang="en-US" sz="1300" dirty="0">
                <a:solidFill>
                  <a:schemeClr val="tx1"/>
                </a:solidFill>
              </a:rPr>
              <a:t>  —  quantity goes up, movement saved with my name</a:t>
            </a:r>
            <a:endParaRPr lang="en-US" sz="1300" dirty="0"/>
          </a:p>
        </p:txBody>
      </p:sp>
      <p:sp>
        <p:nvSpPr>
          <p:cNvPr id="12" name="step 4 number"/>
          <p:cNvSpPr/>
          <p:nvPr/>
        </p:nvSpPr>
        <p:spPr>
          <a:xfrm>
            <a:off x="457200" y="2551176"/>
            <a:ext cx="365760" cy="365760"/>
          </a:xfrm>
          <a:prstGeom prst="ellipse">
            <a:avLst/>
          </a:prstGeom>
          <a:solidFill>
            <a:schemeClr val="accent1"/>
          </a:solidFill>
          <a:ln w="12700">
            <a:solidFill>
              <a:schemeClr val="accent1"/>
            </a:solidFill>
            <a:prstDash val="solid"/>
          </a:ln>
        </p:spPr>
      </p:sp>
      <p:sp>
        <p:nvSpPr>
          <p:cNvPr id="13" name="step 4 digit"/>
          <p:cNvSpPr txBox="1"/>
          <p:nvPr/>
        </p:nvSpPr>
        <p:spPr>
          <a:xfrm>
            <a:off x="457200" y="255117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step 4 text"/>
          <p:cNvSpPr txBox="1"/>
          <p:nvPr/>
        </p:nvSpPr>
        <p:spPr>
          <a:xfrm>
            <a:off x="960120" y="2532888"/>
            <a:ext cx="3749040" cy="402336"/>
          </a:xfrm>
          <a:prstGeom prst="rect">
            <a:avLst/>
          </a:prstGeom>
          <a:noFill/>
          <a:ln/>
        </p:spPr>
        <p:txBody>
          <a:bodyPr wrap="square" lIns="0" tIns="0" rIns="0" bIns="0" rtlCol="0" anchor="ctr"/>
          <a:lstStyle/>
          <a:p>
            <a:pPr indent="0" marL="0">
              <a:buNone/>
            </a:pPr>
            <a:r>
              <a:rPr lang="en-US" sz="1300" b="1" dirty="0">
                <a:solidFill>
                  <a:schemeClr val="tx1"/>
                </a:solidFill>
              </a:rPr>
              <a:t>Take out more than is on hand</a:t>
            </a:r>
            <a:pPr indent="0" marL="0">
              <a:buNone/>
            </a:pPr>
            <a:r>
              <a:rPr lang="en-US" sz="1300" dirty="0">
                <a:solidFill>
                  <a:schemeClr val="tx1"/>
                </a:solidFill>
              </a:rPr>
              <a:t>  —  refused, with the reason</a:t>
            </a:r>
            <a:endParaRPr lang="en-US" sz="1300" dirty="0"/>
          </a:p>
        </p:txBody>
      </p:sp>
      <p:sp>
        <p:nvSpPr>
          <p:cNvPr id="15" name="step 5 number"/>
          <p:cNvSpPr/>
          <p:nvPr/>
        </p:nvSpPr>
        <p:spPr>
          <a:xfrm>
            <a:off x="457200" y="3035808"/>
            <a:ext cx="365760" cy="365760"/>
          </a:xfrm>
          <a:prstGeom prst="ellipse">
            <a:avLst/>
          </a:prstGeom>
          <a:solidFill>
            <a:schemeClr val="accent1"/>
          </a:solidFill>
          <a:ln w="12700">
            <a:solidFill>
              <a:schemeClr val="accent1"/>
            </a:solidFill>
            <a:prstDash val="solid"/>
          </a:ln>
        </p:spPr>
      </p:sp>
      <p:sp>
        <p:nvSpPr>
          <p:cNvPr id="16" name="step 5 digit"/>
          <p:cNvSpPr txBox="1"/>
          <p:nvPr/>
        </p:nvSpPr>
        <p:spPr>
          <a:xfrm>
            <a:off x="457200" y="3035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step 5 text"/>
          <p:cNvSpPr txBox="1"/>
          <p:nvPr/>
        </p:nvSpPr>
        <p:spPr>
          <a:xfrm>
            <a:off x="960120" y="3017520"/>
            <a:ext cx="3749040" cy="402336"/>
          </a:xfrm>
          <a:prstGeom prst="rect">
            <a:avLst/>
          </a:prstGeom>
          <a:noFill/>
          <a:ln/>
        </p:spPr>
        <p:txBody>
          <a:bodyPr wrap="square" lIns="0" tIns="0" rIns="0" bIns="0" rtlCol="0" anchor="ctr"/>
          <a:lstStyle/>
          <a:p>
            <a:pPr indent="0" marL="0">
              <a:buNone/>
            </a:pPr>
            <a:r>
              <a:rPr lang="en-US" sz="1300" b="1" dirty="0">
                <a:solidFill>
                  <a:schemeClr val="tx1"/>
                </a:solidFill>
              </a:rPr>
              <a:t>View history</a:t>
            </a:r>
            <a:pPr indent="0" marL="0">
              <a:buNone/>
            </a:pPr>
            <a:r>
              <a:rPr lang="en-US" sz="1300" dirty="0">
                <a:solidFill>
                  <a:schemeClr val="tx1"/>
                </a:solidFill>
              </a:rPr>
              <a:t>  —  newest first; copy it as text</a:t>
            </a:r>
            <a:endParaRPr lang="en-US" sz="1300" dirty="0"/>
          </a:p>
        </p:txBody>
      </p:sp>
      <p:sp>
        <p:nvSpPr>
          <p:cNvPr id="18" name="step 6 number"/>
          <p:cNvSpPr/>
          <p:nvPr/>
        </p:nvSpPr>
        <p:spPr>
          <a:xfrm>
            <a:off x="457200" y="3520440"/>
            <a:ext cx="365760" cy="365760"/>
          </a:xfrm>
          <a:prstGeom prst="ellipse">
            <a:avLst/>
          </a:prstGeom>
          <a:solidFill>
            <a:schemeClr val="accent1"/>
          </a:solidFill>
          <a:ln w="12700">
            <a:solidFill>
              <a:schemeClr val="accent1"/>
            </a:solidFill>
            <a:prstDash val="solid"/>
          </a:ln>
        </p:spPr>
      </p:sp>
      <p:sp>
        <p:nvSpPr>
          <p:cNvPr id="19" name="step 6 digit"/>
          <p:cNvSpPr txBox="1"/>
          <p:nvPr/>
        </p:nvSpPr>
        <p:spPr>
          <a:xfrm>
            <a:off x="457200" y="35204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0" name="step 6 text"/>
          <p:cNvSpPr txBox="1"/>
          <p:nvPr/>
        </p:nvSpPr>
        <p:spPr>
          <a:xfrm>
            <a:off x="960120" y="3502152"/>
            <a:ext cx="3749040" cy="402336"/>
          </a:xfrm>
          <a:prstGeom prst="rect">
            <a:avLst/>
          </a:prstGeom>
          <a:noFill/>
          <a:ln/>
        </p:spPr>
        <p:txBody>
          <a:bodyPr wrap="square" lIns="0" tIns="0" rIns="0" bIns="0" rtlCol="0" anchor="ctr"/>
          <a:lstStyle/>
          <a:p>
            <a:pPr indent="0" marL="0">
              <a:buNone/>
            </a:pPr>
            <a:r>
              <a:rPr lang="en-US" sz="1300" b="1" dirty="0">
                <a:solidFill>
                  <a:schemeClr val="tx1"/>
                </a:solidFill>
              </a:rPr>
              <a:t>Filter by category, export to CSV</a:t>
            </a:r>
            <a:pPr indent="0" marL="0">
              <a:buNone/>
            </a:pPr>
            <a:r>
              <a:rPr lang="en-US" sz="1300" dirty="0">
                <a:solidFill>
                  <a:schemeClr val="tx1"/>
                </a:solidFill>
              </a:rPr>
              <a:t>  —  total value at the bottom</a:t>
            </a:r>
            <a:endParaRPr lang="en-US" sz="1300" dirty="0"/>
          </a:p>
        </p:txBody>
      </p:sp>
      <p:sp>
        <p:nvSpPr>
          <p:cNvPr id="21" name="step 7 number"/>
          <p:cNvSpPr/>
          <p:nvPr/>
        </p:nvSpPr>
        <p:spPr>
          <a:xfrm>
            <a:off x="457200" y="4005072"/>
            <a:ext cx="365760" cy="365760"/>
          </a:xfrm>
          <a:prstGeom prst="ellipse">
            <a:avLst/>
          </a:prstGeom>
          <a:solidFill>
            <a:schemeClr val="accent1"/>
          </a:solidFill>
          <a:ln w="12700">
            <a:solidFill>
              <a:schemeClr val="accent1"/>
            </a:solidFill>
            <a:prstDash val="solid"/>
          </a:ln>
        </p:spPr>
      </p:sp>
      <p:sp>
        <p:nvSpPr>
          <p:cNvPr id="22" name="step 7 digit"/>
          <p:cNvSpPr txBox="1"/>
          <p:nvPr/>
        </p:nvSpPr>
        <p:spPr>
          <a:xfrm>
            <a:off x="457200" y="400507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23" name="step 7 text"/>
          <p:cNvSpPr txBox="1"/>
          <p:nvPr/>
        </p:nvSpPr>
        <p:spPr>
          <a:xfrm>
            <a:off x="960120" y="3986784"/>
            <a:ext cx="3749040" cy="402336"/>
          </a:xfrm>
          <a:prstGeom prst="rect">
            <a:avLst/>
          </a:prstGeom>
          <a:noFill/>
          <a:ln/>
        </p:spPr>
        <p:txBody>
          <a:bodyPr wrap="square" lIns="0" tIns="0" rIns="0" bIns="0" rtlCol="0" anchor="ctr"/>
          <a:lstStyle/>
          <a:p>
            <a:pPr indent="0" marL="0">
              <a:buNone/>
            </a:pPr>
            <a:r>
              <a:rPr lang="en-US" sz="1300" b="1" dirty="0">
                <a:solidFill>
                  <a:schemeClr val="tx1"/>
                </a:solidFill>
              </a:rPr>
              <a:t>Deactivate an item</a:t>
            </a:r>
            <a:pPr indent="0" marL="0">
              <a:buNone/>
            </a:pPr>
            <a:r>
              <a:rPr lang="en-US" sz="1300" dirty="0">
                <a:solidFill>
                  <a:schemeClr val="tx1"/>
                </a:solidFill>
              </a:rPr>
              <a:t>  —  it leaves the list, its history stays</a:t>
            </a:r>
            <a:endParaRPr lang="en-US" sz="1300" dirty="0"/>
          </a:p>
        </p:txBody>
      </p:sp>
      <p:sp>
        <p:nvSpPr>
          <p:cNvPr id="24" name="demo screenshot frame"/>
          <p:cNvSpPr/>
          <p:nvPr/>
        </p:nvSpPr>
        <p:spPr>
          <a:xfrm>
            <a:off x="4992624" y="1106424"/>
            <a:ext cx="3730752" cy="2734056"/>
          </a:xfrm>
          <a:prstGeom prst="rect">
            <a:avLst/>
          </a:prstGeom>
          <a:solidFill>
            <a:schemeClr val="bg1"/>
          </a:solidFill>
          <a:ln w="9525">
            <a:solidFill>
              <a:schemeClr val="accent5"/>
            </a:solidFill>
            <a:prstDash val="solid"/>
          </a:ln>
          <a:effectLst>
            <a:outerShdw sx="100000" sy="100000" kx="0" ky="0" algn="bl" rotWithShape="0" blurRad="76200" dist="25400" dir="5400000">
              <a:srgbClr val="1F2933">
                <a:alpha val="25000"/>
              </a:srgbClr>
            </a:outerShdw>
          </a:effectLst>
        </p:spPr>
      </p:sp>
      <p:pic>
        <p:nvPicPr>
          <p:cNvPr id="25" name="demo screenshot" descr="C:\Users\aashi\Desktop\ITS203_AssessmentC\docs\screenshots\main-window.png">    </p:cNvPr>
          <p:cNvPicPr>
            <a:picLocks noChangeAspect="1"/>
          </p:cNvPicPr>
          <p:nvPr/>
        </p:nvPicPr>
        <p:blipFill>
          <a:blip r:embed="rId1"/>
          <a:stretch>
            <a:fillRect/>
          </a:stretch>
        </p:blipFill>
        <p:spPr>
          <a:xfrm>
            <a:off x="5029200" y="1143000"/>
            <a:ext cx="3657600" cy="2660904"/>
          </a:xfrm>
          <a:prstGeom prst="rect">
            <a:avLst/>
          </a:prstGeom>
        </p:spPr>
      </p:pic>
      <p:sp>
        <p:nvSpPr>
          <p:cNvPr id="26" name="demo caption"/>
          <p:cNvSpPr txBox="1"/>
          <p:nvPr/>
        </p:nvSpPr>
        <p:spPr>
          <a:xfrm>
            <a:off x="5029200" y="3886200"/>
            <a:ext cx="3657600" cy="274320"/>
          </a:xfrm>
          <a:prstGeom prst="rect">
            <a:avLst/>
          </a:prstGeom>
          <a:noFill/>
          <a:ln/>
        </p:spPr>
        <p:txBody>
          <a:bodyPr wrap="square" lIns="0" tIns="0" rIns="0" bIns="0" rtlCol="0" anchor="ctr"/>
          <a:lstStyle/>
          <a:p>
            <a:pPr algn="ctr" indent="0" marL="0">
              <a:buNone/>
            </a:pPr>
            <a:r>
              <a:rPr lang="en-US" sz="1050" i="1" dirty="0">
                <a:solidFill>
                  <a:schemeClr val="accent5"/>
                </a:solidFill>
              </a:rPr>
              <a:t>Demo data: a 10-item motel storeroom</a:t>
            </a:r>
            <a:endParaRPr lang="en-US" sz="10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8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How it is built</a:t>
            </a:r>
            <a:endParaRPr lang="en-US" sz="3000" dirty="0"/>
          </a:p>
        </p:txBody>
      </p:sp>
      <p:sp>
        <p:nvSpPr>
          <p:cNvPr id="3" name="Forms column heading"/>
          <p:cNvSpPr txBox="1"/>
          <p:nvPr/>
        </p:nvSpPr>
        <p:spPr>
          <a:xfrm>
            <a:off x="457200" y="1024128"/>
            <a:ext cx="2651760" cy="320040"/>
          </a:xfrm>
          <a:prstGeom prst="rect">
            <a:avLst/>
          </a:prstGeom>
          <a:noFill/>
          <a:ln/>
        </p:spPr>
        <p:txBody>
          <a:bodyPr wrap="square" lIns="0" tIns="0" rIns="0" bIns="0" rtlCol="0" anchor="ctr"/>
          <a:lstStyle/>
          <a:p>
            <a:pPr algn="ctr" indent="0" marL="0">
              <a:buNone/>
            </a:pPr>
            <a:r>
              <a:rPr lang="en-US" sz="1500" b="1" dirty="0">
                <a:solidFill>
                  <a:schemeClr val="accent2"/>
                </a:solidFill>
              </a:rPr>
              <a:t>Forms</a:t>
            </a:r>
            <a:endParaRPr lang="en-US" sz="1500" dirty="0"/>
          </a:p>
        </p:txBody>
      </p:sp>
      <p:sp>
        <p:nvSpPr>
          <p:cNvPr id="4" name="Models column heading"/>
          <p:cNvSpPr txBox="1"/>
          <p:nvPr/>
        </p:nvSpPr>
        <p:spPr>
          <a:xfrm>
            <a:off x="3337560" y="1024128"/>
            <a:ext cx="2651760" cy="320040"/>
          </a:xfrm>
          <a:prstGeom prst="rect">
            <a:avLst/>
          </a:prstGeom>
          <a:noFill/>
          <a:ln/>
        </p:spPr>
        <p:txBody>
          <a:bodyPr wrap="square" lIns="0" tIns="0" rIns="0" bIns="0" rtlCol="0" anchor="ctr"/>
          <a:lstStyle/>
          <a:p>
            <a:pPr algn="ctr" indent="0" marL="0">
              <a:buNone/>
            </a:pPr>
            <a:r>
              <a:rPr lang="en-US" sz="1500" b="1" dirty="0">
                <a:solidFill>
                  <a:schemeClr val="accent2"/>
                </a:solidFill>
              </a:rPr>
              <a:t>Models</a:t>
            </a:r>
            <a:endParaRPr lang="en-US" sz="1500" dirty="0"/>
          </a:p>
        </p:txBody>
      </p:sp>
      <p:sp>
        <p:nvSpPr>
          <p:cNvPr id="5" name="Data column heading"/>
          <p:cNvSpPr txBox="1"/>
          <p:nvPr/>
        </p:nvSpPr>
        <p:spPr>
          <a:xfrm>
            <a:off x="6217920" y="1024128"/>
            <a:ext cx="2651760" cy="320040"/>
          </a:xfrm>
          <a:prstGeom prst="rect">
            <a:avLst/>
          </a:prstGeom>
          <a:noFill/>
          <a:ln/>
        </p:spPr>
        <p:txBody>
          <a:bodyPr wrap="square" lIns="0" tIns="0" rIns="0" bIns="0" rtlCol="0" anchor="ctr"/>
          <a:lstStyle/>
          <a:p>
            <a:pPr algn="ctr" indent="0" marL="0">
              <a:buNone/>
            </a:pPr>
            <a:r>
              <a:rPr lang="en-US" sz="1500" b="1" dirty="0">
                <a:solidFill>
                  <a:schemeClr val="accent2"/>
                </a:solidFill>
              </a:rPr>
              <a:t>Data</a:t>
            </a:r>
            <a:endParaRPr lang="en-US" sz="1500" dirty="0"/>
          </a:p>
        </p:txBody>
      </p:sp>
      <p:sp>
        <p:nvSpPr>
          <p:cNvPr id="6" name="MainForm box"/>
          <p:cNvSpPr/>
          <p:nvPr/>
        </p:nvSpPr>
        <p:spPr>
          <a:xfrm>
            <a:off x="457200" y="1417320"/>
            <a:ext cx="2651760" cy="685800"/>
          </a:xfrm>
          <a:prstGeom prst="roundRect">
            <a:avLst>
              <a:gd name="adj" fmla="val 10667"/>
            </a:avLst>
          </a:prstGeom>
          <a:solidFill>
            <a:schemeClr val="bg2"/>
          </a:solidFill>
          <a:ln w="12700">
            <a:solidFill>
              <a:schemeClr val="bg2"/>
            </a:solidFill>
            <a:prstDash val="solid"/>
          </a:ln>
        </p:spPr>
      </p:sp>
      <p:sp>
        <p:nvSpPr>
          <p:cNvPr id="7" name="MainForm box text"/>
          <p:cNvSpPr txBox="1"/>
          <p:nvPr/>
        </p:nvSpPr>
        <p:spPr>
          <a:xfrm>
            <a:off x="548640" y="1472184"/>
            <a:ext cx="2468880" cy="576072"/>
          </a:xfrm>
          <a:prstGeom prst="rect">
            <a:avLst/>
          </a:prstGeom>
          <a:noFill/>
          <a:ln/>
        </p:spPr>
        <p:txBody>
          <a:bodyPr wrap="square" lIns="0" tIns="0" rIns="0" bIns="0" rtlCol="0" anchor="t"/>
          <a:lstStyle/>
          <a:p>
            <a:pPr algn="ctr" indent="0" marL="0">
              <a:buNone/>
            </a:pPr>
            <a:r>
              <a:rPr lang="en-US" sz="1250" b="1" dirty="0">
                <a:solidFill>
                  <a:schemeClr val="tx1"/>
                </a:solidFill>
              </a:rPr>
              <a:t>MainForm</a:t>
            </a:r>
            <a:endParaRPr lang="en-US" sz="1250" dirty="0"/>
          </a:p>
          <a:p>
            <a:pPr algn="ctr" indent="0" marL="0">
              <a:buNone/>
            </a:pPr>
            <a:r>
              <a:rPr lang="en-US" sz="1050" dirty="0">
                <a:solidFill>
                  <a:schemeClr val="tx1"/>
                </a:solidFill>
              </a:rPr>
              <a:t>stock list, filter, warnings, buttons</a:t>
            </a:r>
            <a:endParaRPr lang="en-US" sz="1250" dirty="0"/>
          </a:p>
        </p:txBody>
      </p:sp>
      <p:sp>
        <p:nvSpPr>
          <p:cNvPr id="8" name="ItemForm box"/>
          <p:cNvSpPr/>
          <p:nvPr/>
        </p:nvSpPr>
        <p:spPr>
          <a:xfrm>
            <a:off x="457200" y="2240280"/>
            <a:ext cx="2651760" cy="548640"/>
          </a:xfrm>
          <a:prstGeom prst="roundRect">
            <a:avLst>
              <a:gd name="adj" fmla="val 13333"/>
            </a:avLst>
          </a:prstGeom>
          <a:solidFill>
            <a:schemeClr val="bg2"/>
          </a:solidFill>
          <a:ln w="12700">
            <a:solidFill>
              <a:schemeClr val="bg2"/>
            </a:solidFill>
            <a:prstDash val="solid"/>
          </a:ln>
        </p:spPr>
      </p:sp>
      <p:sp>
        <p:nvSpPr>
          <p:cNvPr id="9" name="ItemForm box text"/>
          <p:cNvSpPr txBox="1"/>
          <p:nvPr/>
        </p:nvSpPr>
        <p:spPr>
          <a:xfrm>
            <a:off x="548640" y="2295144"/>
            <a:ext cx="2468880" cy="438912"/>
          </a:xfrm>
          <a:prstGeom prst="rect">
            <a:avLst/>
          </a:prstGeom>
          <a:noFill/>
          <a:ln/>
        </p:spPr>
        <p:txBody>
          <a:bodyPr wrap="square" lIns="0" tIns="0" rIns="0" bIns="0" rtlCol="0" anchor="t"/>
          <a:lstStyle/>
          <a:p>
            <a:pPr algn="ctr" indent="0" marL="0">
              <a:buNone/>
            </a:pPr>
            <a:r>
              <a:rPr lang="en-US" sz="1250" b="1" dirty="0">
                <a:solidFill>
                  <a:schemeClr val="tx1"/>
                </a:solidFill>
              </a:rPr>
              <a:t>ItemForm</a:t>
            </a:r>
            <a:endParaRPr lang="en-US" sz="1250" dirty="0"/>
          </a:p>
          <a:p>
            <a:pPr algn="ctr" indent="0" marL="0">
              <a:buNone/>
            </a:pPr>
            <a:r>
              <a:rPr lang="en-US" sz="1050" dirty="0">
                <a:solidFill>
                  <a:schemeClr val="tx1"/>
                </a:solidFill>
              </a:rPr>
              <a:t>add or edit one item</a:t>
            </a:r>
            <a:endParaRPr lang="en-US" sz="1250" dirty="0"/>
          </a:p>
        </p:txBody>
      </p:sp>
      <p:sp>
        <p:nvSpPr>
          <p:cNvPr id="10" name="MovementForm box"/>
          <p:cNvSpPr/>
          <p:nvPr/>
        </p:nvSpPr>
        <p:spPr>
          <a:xfrm>
            <a:off x="457200" y="2926080"/>
            <a:ext cx="2651760" cy="548640"/>
          </a:xfrm>
          <a:prstGeom prst="roundRect">
            <a:avLst>
              <a:gd name="adj" fmla="val 13333"/>
            </a:avLst>
          </a:prstGeom>
          <a:solidFill>
            <a:schemeClr val="bg2"/>
          </a:solidFill>
          <a:ln w="12700">
            <a:solidFill>
              <a:schemeClr val="bg2"/>
            </a:solidFill>
            <a:prstDash val="solid"/>
          </a:ln>
        </p:spPr>
      </p:sp>
      <p:sp>
        <p:nvSpPr>
          <p:cNvPr id="11" name="MovementForm box text"/>
          <p:cNvSpPr txBox="1"/>
          <p:nvPr/>
        </p:nvSpPr>
        <p:spPr>
          <a:xfrm>
            <a:off x="548640" y="2980944"/>
            <a:ext cx="2468880" cy="438912"/>
          </a:xfrm>
          <a:prstGeom prst="rect">
            <a:avLst/>
          </a:prstGeom>
          <a:noFill/>
          <a:ln/>
        </p:spPr>
        <p:txBody>
          <a:bodyPr wrap="square" lIns="0" tIns="0" rIns="0" bIns="0" rtlCol="0" anchor="t"/>
          <a:lstStyle/>
          <a:p>
            <a:pPr algn="ctr" indent="0" marL="0">
              <a:buNone/>
            </a:pPr>
            <a:r>
              <a:rPr lang="en-US" sz="1250" b="1" dirty="0">
                <a:solidFill>
                  <a:schemeClr val="tx1"/>
                </a:solidFill>
              </a:rPr>
              <a:t>MovementForm</a:t>
            </a:r>
            <a:endParaRPr lang="en-US" sz="1250" dirty="0"/>
          </a:p>
          <a:p>
            <a:pPr algn="ctr" indent="0" marL="0">
              <a:buNone/>
            </a:pPr>
            <a:r>
              <a:rPr lang="en-US" sz="1050" dirty="0">
                <a:solidFill>
                  <a:schemeClr val="tx1"/>
                </a:solidFill>
              </a:rPr>
              <a:t>receipt or issue</a:t>
            </a:r>
            <a:endParaRPr lang="en-US" sz="1250" dirty="0"/>
          </a:p>
        </p:txBody>
      </p:sp>
      <p:sp>
        <p:nvSpPr>
          <p:cNvPr id="12" name="HistoryForm box"/>
          <p:cNvSpPr/>
          <p:nvPr/>
        </p:nvSpPr>
        <p:spPr>
          <a:xfrm>
            <a:off x="457200" y="3611880"/>
            <a:ext cx="2651760" cy="548640"/>
          </a:xfrm>
          <a:prstGeom prst="roundRect">
            <a:avLst>
              <a:gd name="adj" fmla="val 13333"/>
            </a:avLst>
          </a:prstGeom>
          <a:solidFill>
            <a:schemeClr val="bg2"/>
          </a:solidFill>
          <a:ln w="12700">
            <a:solidFill>
              <a:schemeClr val="bg2"/>
            </a:solidFill>
            <a:prstDash val="solid"/>
          </a:ln>
        </p:spPr>
      </p:sp>
      <p:sp>
        <p:nvSpPr>
          <p:cNvPr id="13" name="HistoryForm box text"/>
          <p:cNvSpPr txBox="1"/>
          <p:nvPr/>
        </p:nvSpPr>
        <p:spPr>
          <a:xfrm>
            <a:off x="548640" y="3666744"/>
            <a:ext cx="2468880" cy="438912"/>
          </a:xfrm>
          <a:prstGeom prst="rect">
            <a:avLst/>
          </a:prstGeom>
          <a:noFill/>
          <a:ln/>
        </p:spPr>
        <p:txBody>
          <a:bodyPr wrap="square" lIns="0" tIns="0" rIns="0" bIns="0" rtlCol="0" anchor="t"/>
          <a:lstStyle/>
          <a:p>
            <a:pPr algn="ctr" indent="0" marL="0">
              <a:buNone/>
            </a:pPr>
            <a:r>
              <a:rPr lang="en-US" sz="1250" b="1" dirty="0">
                <a:solidFill>
                  <a:schemeClr val="tx1"/>
                </a:solidFill>
              </a:rPr>
              <a:t>HistoryForm</a:t>
            </a:r>
            <a:endParaRPr lang="en-US" sz="1250" dirty="0"/>
          </a:p>
          <a:p>
            <a:pPr algn="ctr" indent="0" marL="0">
              <a:buNone/>
            </a:pPr>
            <a:r>
              <a:rPr lang="en-US" sz="1050" dirty="0">
                <a:solidFill>
                  <a:schemeClr val="tx1"/>
                </a:solidFill>
              </a:rPr>
              <a:t>movements for one item</a:t>
            </a:r>
            <a:endParaRPr lang="en-US" sz="1250" dirty="0"/>
          </a:p>
        </p:txBody>
      </p:sp>
      <p:sp>
        <p:nvSpPr>
          <p:cNvPr id="14" name="IReportable box"/>
          <p:cNvSpPr/>
          <p:nvPr/>
        </p:nvSpPr>
        <p:spPr>
          <a:xfrm>
            <a:off x="3337560" y="1417320"/>
            <a:ext cx="2651760" cy="502920"/>
          </a:xfrm>
          <a:prstGeom prst="roundRect">
            <a:avLst>
              <a:gd name="adj" fmla="val 14545"/>
            </a:avLst>
          </a:prstGeom>
          <a:solidFill>
            <a:schemeClr val="accent6"/>
          </a:solidFill>
          <a:ln w="12700">
            <a:solidFill>
              <a:schemeClr val="accent6"/>
            </a:solidFill>
            <a:prstDash val="solid"/>
          </a:ln>
        </p:spPr>
      </p:sp>
      <p:sp>
        <p:nvSpPr>
          <p:cNvPr id="15" name="IReportable box text"/>
          <p:cNvSpPr txBox="1"/>
          <p:nvPr/>
        </p:nvSpPr>
        <p:spPr>
          <a:xfrm>
            <a:off x="3429000" y="1472184"/>
            <a:ext cx="2468880" cy="393192"/>
          </a:xfrm>
          <a:prstGeom prst="rect">
            <a:avLst/>
          </a:prstGeom>
          <a:noFill/>
          <a:ln/>
        </p:spPr>
        <p:txBody>
          <a:bodyPr wrap="square" lIns="0" tIns="0" rIns="0" bIns="0" rtlCol="0" anchor="t"/>
          <a:lstStyle/>
          <a:p>
            <a:pPr algn="ctr" indent="0" marL="0">
              <a:buNone/>
            </a:pPr>
            <a:r>
              <a:rPr lang="en-US" sz="1250" b="1" dirty="0">
                <a:solidFill>
                  <a:schemeClr val="tx1"/>
                </a:solidFill>
              </a:rPr>
              <a:t>«interface»  IReportable</a:t>
            </a:r>
            <a:endParaRPr lang="en-US" sz="1250" dirty="0"/>
          </a:p>
          <a:p>
            <a:pPr algn="ctr" indent="0" marL="0">
              <a:buNone/>
            </a:pPr>
            <a:r>
              <a:rPr lang="en-US" sz="1050" dirty="0">
                <a:solidFill>
                  <a:schemeClr val="tx1"/>
                </a:solidFill>
              </a:rPr>
              <a:t>ToReportLine()</a:t>
            </a:r>
            <a:endParaRPr lang="en-US" sz="1250" dirty="0"/>
          </a:p>
        </p:txBody>
      </p:sp>
      <p:sp>
        <p:nvSpPr>
          <p:cNvPr id="16" name="StockItem box"/>
          <p:cNvSpPr/>
          <p:nvPr/>
        </p:nvSpPr>
        <p:spPr>
          <a:xfrm>
            <a:off x="3337560" y="2148840"/>
            <a:ext cx="2651760" cy="685800"/>
          </a:xfrm>
          <a:prstGeom prst="roundRect">
            <a:avLst>
              <a:gd name="adj" fmla="val 10667"/>
            </a:avLst>
          </a:prstGeom>
          <a:solidFill>
            <a:schemeClr val="tx2"/>
          </a:solidFill>
          <a:ln w="12700">
            <a:solidFill>
              <a:schemeClr val="tx2"/>
            </a:solidFill>
            <a:prstDash val="solid"/>
          </a:ln>
        </p:spPr>
      </p:sp>
      <p:sp>
        <p:nvSpPr>
          <p:cNvPr id="17" name="StockItem box text"/>
          <p:cNvSpPr txBox="1"/>
          <p:nvPr/>
        </p:nvSpPr>
        <p:spPr>
          <a:xfrm>
            <a:off x="3429000" y="2203704"/>
            <a:ext cx="2468880" cy="576072"/>
          </a:xfrm>
          <a:prstGeom prst="rect">
            <a:avLst/>
          </a:prstGeom>
          <a:noFill/>
          <a:ln/>
        </p:spPr>
        <p:txBody>
          <a:bodyPr wrap="square" lIns="0" tIns="0" rIns="0" bIns="0" rtlCol="0" anchor="t"/>
          <a:lstStyle/>
          <a:p>
            <a:pPr algn="ctr" indent="0" marL="0">
              <a:buNone/>
            </a:pPr>
            <a:r>
              <a:rPr lang="en-US" sz="1250" b="1" dirty="0">
                <a:solidFill>
                  <a:schemeClr val="bg1"/>
                </a:solidFill>
              </a:rPr>
              <a:t>«abstract»  StockItem</a:t>
            </a:r>
            <a:endParaRPr lang="en-US" sz="1250" dirty="0"/>
          </a:p>
          <a:p>
            <a:pPr algn="ctr" indent="0" marL="0">
              <a:buNone/>
            </a:pPr>
            <a:r>
              <a:rPr lang="en-US" sz="1050" dirty="0">
                <a:solidFill>
                  <a:schemeClr val="bg1"/>
                </a:solidFill>
              </a:rPr>
              <a:t>Name, QuantityOnHand, Receive(), Issue()</a:t>
            </a:r>
            <a:endParaRPr lang="en-US" sz="1250" dirty="0"/>
          </a:p>
          <a:p>
            <a:pPr algn="ctr" indent="0" marL="0">
              <a:buNone/>
            </a:pPr>
            <a:r>
              <a:rPr lang="en-US" sz="1050" dirty="0">
                <a:solidFill>
                  <a:schemeClr val="bg1"/>
                </a:solidFill>
              </a:rPr>
              <a:t>NeedsAttention(), AttentionMessage()</a:t>
            </a:r>
            <a:endParaRPr lang="en-US" sz="1250" dirty="0"/>
          </a:p>
        </p:txBody>
      </p:sp>
      <p:sp>
        <p:nvSpPr>
          <p:cNvPr id="18" name="ConsumableItem box"/>
          <p:cNvSpPr/>
          <p:nvPr/>
        </p:nvSpPr>
        <p:spPr>
          <a:xfrm>
            <a:off x="3337560" y="3108960"/>
            <a:ext cx="1298448" cy="640080"/>
          </a:xfrm>
          <a:prstGeom prst="roundRect">
            <a:avLst>
              <a:gd name="adj" fmla="val 11429"/>
            </a:avLst>
          </a:prstGeom>
          <a:solidFill>
            <a:schemeClr val="accent2"/>
          </a:solidFill>
          <a:ln w="12700">
            <a:solidFill>
              <a:schemeClr val="accent2"/>
            </a:solidFill>
            <a:prstDash val="solid"/>
          </a:ln>
        </p:spPr>
      </p:sp>
      <p:sp>
        <p:nvSpPr>
          <p:cNvPr id="19" name="ConsumableItem box text"/>
          <p:cNvSpPr txBox="1"/>
          <p:nvPr/>
        </p:nvSpPr>
        <p:spPr>
          <a:xfrm>
            <a:off x="3429000" y="3163824"/>
            <a:ext cx="1115568" cy="530352"/>
          </a:xfrm>
          <a:prstGeom prst="rect">
            <a:avLst/>
          </a:prstGeom>
          <a:noFill/>
          <a:ln/>
        </p:spPr>
        <p:txBody>
          <a:bodyPr wrap="square" lIns="0" tIns="0" rIns="0" bIns="0" rtlCol="0" anchor="t"/>
          <a:lstStyle/>
          <a:p>
            <a:pPr algn="ctr" indent="0" marL="0">
              <a:buNone/>
            </a:pPr>
            <a:r>
              <a:rPr lang="en-US" sz="1100" b="1" dirty="0">
                <a:solidFill>
                  <a:schemeClr val="bg1"/>
                </a:solidFill>
              </a:rPr>
              <a:t>ConsumableItem</a:t>
            </a:r>
            <a:endParaRPr lang="en-US" sz="1100" dirty="0"/>
          </a:p>
          <a:p>
            <a:pPr algn="ctr" indent="0" marL="0">
              <a:buNone/>
            </a:pPr>
            <a:r>
              <a:rPr lang="en-US" sz="1050" dirty="0">
                <a:solidFill>
                  <a:schemeClr val="bg1"/>
                </a:solidFill>
              </a:rPr>
              <a:t>use-by date</a:t>
            </a:r>
            <a:endParaRPr lang="en-US" sz="1100" dirty="0"/>
          </a:p>
        </p:txBody>
      </p:sp>
      <p:sp>
        <p:nvSpPr>
          <p:cNvPr id="20" name="DurableItem box"/>
          <p:cNvSpPr/>
          <p:nvPr/>
        </p:nvSpPr>
        <p:spPr>
          <a:xfrm>
            <a:off x="4690872" y="3108960"/>
            <a:ext cx="1298448" cy="640080"/>
          </a:xfrm>
          <a:prstGeom prst="roundRect">
            <a:avLst>
              <a:gd name="adj" fmla="val 11429"/>
            </a:avLst>
          </a:prstGeom>
          <a:solidFill>
            <a:schemeClr val="accent2"/>
          </a:solidFill>
          <a:ln w="12700">
            <a:solidFill>
              <a:schemeClr val="accent2"/>
            </a:solidFill>
            <a:prstDash val="solid"/>
          </a:ln>
        </p:spPr>
      </p:sp>
      <p:sp>
        <p:nvSpPr>
          <p:cNvPr id="21" name="DurableItem box text"/>
          <p:cNvSpPr txBox="1"/>
          <p:nvPr/>
        </p:nvSpPr>
        <p:spPr>
          <a:xfrm>
            <a:off x="4782312" y="3163824"/>
            <a:ext cx="1115568" cy="530352"/>
          </a:xfrm>
          <a:prstGeom prst="rect">
            <a:avLst/>
          </a:prstGeom>
          <a:noFill/>
          <a:ln/>
        </p:spPr>
        <p:txBody>
          <a:bodyPr wrap="square" lIns="0" tIns="0" rIns="0" bIns="0" rtlCol="0" anchor="t"/>
          <a:lstStyle/>
          <a:p>
            <a:pPr algn="ctr" indent="0" marL="0">
              <a:buNone/>
            </a:pPr>
            <a:r>
              <a:rPr lang="en-US" sz="1100" b="1" dirty="0">
                <a:solidFill>
                  <a:schemeClr val="bg1"/>
                </a:solidFill>
              </a:rPr>
              <a:t>DurableItem</a:t>
            </a:r>
            <a:endParaRPr lang="en-US" sz="1100" dirty="0"/>
          </a:p>
          <a:p>
            <a:pPr algn="ctr" indent="0" marL="0">
              <a:buNone/>
            </a:pPr>
            <a:r>
              <a:rPr lang="en-US" sz="1050" dirty="0">
                <a:solidFill>
                  <a:schemeClr val="bg1"/>
                </a:solidFill>
              </a:rPr>
              <a:t>replacement interval</a:t>
            </a:r>
            <a:endParaRPr lang="en-US" sz="1100" dirty="0"/>
          </a:p>
        </p:txBody>
      </p:sp>
      <p:sp>
        <p:nvSpPr>
          <p:cNvPr id="22" name="StockMovement box"/>
          <p:cNvSpPr/>
          <p:nvPr/>
        </p:nvSpPr>
        <p:spPr>
          <a:xfrm>
            <a:off x="3337560" y="3931920"/>
            <a:ext cx="2651760" cy="502920"/>
          </a:xfrm>
          <a:prstGeom prst="roundRect">
            <a:avLst>
              <a:gd name="adj" fmla="val 14545"/>
            </a:avLst>
          </a:prstGeom>
          <a:solidFill>
            <a:schemeClr val="bg2"/>
          </a:solidFill>
          <a:ln w="12700">
            <a:solidFill>
              <a:schemeClr val="bg2"/>
            </a:solidFill>
            <a:prstDash val="solid"/>
          </a:ln>
        </p:spPr>
      </p:sp>
      <p:sp>
        <p:nvSpPr>
          <p:cNvPr id="23" name="StockMovement box text"/>
          <p:cNvSpPr txBox="1"/>
          <p:nvPr/>
        </p:nvSpPr>
        <p:spPr>
          <a:xfrm>
            <a:off x="3429000" y="3986784"/>
            <a:ext cx="2468880" cy="393192"/>
          </a:xfrm>
          <a:prstGeom prst="rect">
            <a:avLst/>
          </a:prstGeom>
          <a:noFill/>
          <a:ln/>
        </p:spPr>
        <p:txBody>
          <a:bodyPr wrap="square" lIns="0" tIns="0" rIns="0" bIns="0" rtlCol="0" anchor="t"/>
          <a:lstStyle/>
          <a:p>
            <a:pPr algn="ctr" indent="0" marL="0">
              <a:buNone/>
            </a:pPr>
            <a:r>
              <a:rPr lang="en-US" sz="1250" b="1" dirty="0">
                <a:solidFill>
                  <a:schemeClr val="tx1"/>
                </a:solidFill>
              </a:rPr>
              <a:t>StockMovement</a:t>
            </a:r>
            <a:endParaRPr lang="en-US" sz="1250" dirty="0"/>
          </a:p>
          <a:p>
            <a:pPr algn="ctr" indent="0" marL="0">
              <a:buNone/>
            </a:pPr>
            <a:r>
              <a:rPr lang="en-US" sz="1050" dirty="0">
                <a:solidFill>
                  <a:schemeClr val="tx1"/>
                </a:solidFill>
              </a:rPr>
              <a:t>one receipt or issue</a:t>
            </a:r>
            <a:endParaRPr lang="en-US" sz="1250" dirty="0"/>
          </a:p>
        </p:txBody>
      </p:sp>
      <p:sp>
        <p:nvSpPr>
          <p:cNvPr id="24" name="Database box"/>
          <p:cNvSpPr/>
          <p:nvPr/>
        </p:nvSpPr>
        <p:spPr>
          <a:xfrm>
            <a:off x="6217920" y="1417320"/>
            <a:ext cx="2468880" cy="822960"/>
          </a:xfrm>
          <a:prstGeom prst="roundRect">
            <a:avLst>
              <a:gd name="adj" fmla="val 8889"/>
            </a:avLst>
          </a:prstGeom>
          <a:solidFill>
            <a:schemeClr val="bg2"/>
          </a:solidFill>
          <a:ln w="12700">
            <a:solidFill>
              <a:schemeClr val="bg2"/>
            </a:solidFill>
            <a:prstDash val="solid"/>
          </a:ln>
        </p:spPr>
      </p:sp>
      <p:sp>
        <p:nvSpPr>
          <p:cNvPr id="25" name="Database box text"/>
          <p:cNvSpPr txBox="1"/>
          <p:nvPr/>
        </p:nvSpPr>
        <p:spPr>
          <a:xfrm>
            <a:off x="6309360" y="1472184"/>
            <a:ext cx="2286000" cy="713232"/>
          </a:xfrm>
          <a:prstGeom prst="rect">
            <a:avLst/>
          </a:prstGeom>
          <a:noFill/>
          <a:ln/>
        </p:spPr>
        <p:txBody>
          <a:bodyPr wrap="square" lIns="0" tIns="0" rIns="0" bIns="0" rtlCol="0" anchor="t"/>
          <a:lstStyle/>
          <a:p>
            <a:pPr algn="ctr" indent="0" marL="0">
              <a:buNone/>
            </a:pPr>
            <a:r>
              <a:rPr lang="en-US" sz="1250" b="1" dirty="0">
                <a:solidFill>
                  <a:schemeClr val="tx1"/>
                </a:solidFill>
              </a:rPr>
              <a:t>Database</a:t>
            </a:r>
            <a:endParaRPr lang="en-US" sz="1250" dirty="0"/>
          </a:p>
          <a:p>
            <a:pPr algn="ctr" indent="0" marL="0">
              <a:buNone/>
            </a:pPr>
            <a:r>
              <a:rPr lang="en-US" sz="1050" dirty="0">
                <a:solidFill>
                  <a:schemeClr val="tx1"/>
                </a:solidFill>
              </a:rPr>
              <a:t>all the SQL; builds the right</a:t>
            </a:r>
            <a:endParaRPr lang="en-US" sz="1250" dirty="0"/>
          </a:p>
          <a:p>
            <a:pPr algn="ctr" indent="0" marL="0">
              <a:buNone/>
            </a:pPr>
            <a:r>
              <a:rPr lang="en-US" sz="1050" dirty="0">
                <a:solidFill>
                  <a:schemeClr val="tx1"/>
                </a:solidFill>
              </a:rPr>
              <a:t>subclass from the ItemType column</a:t>
            </a:r>
            <a:endParaRPr lang="en-US" sz="1250" dirty="0"/>
          </a:p>
        </p:txBody>
      </p:sp>
      <p:sp>
        <p:nvSpPr>
          <p:cNvPr id="26" name="sqlite box"/>
          <p:cNvSpPr/>
          <p:nvPr/>
        </p:nvSpPr>
        <p:spPr>
          <a:xfrm>
            <a:off x="6217920" y="2377440"/>
            <a:ext cx="2468880" cy="822960"/>
          </a:xfrm>
          <a:prstGeom prst="roundRect">
            <a:avLst>
              <a:gd name="adj" fmla="val 8889"/>
            </a:avLst>
          </a:prstGeom>
          <a:solidFill>
            <a:schemeClr val="tx2"/>
          </a:solidFill>
          <a:ln w="12700">
            <a:solidFill>
              <a:schemeClr val="tx2"/>
            </a:solidFill>
            <a:prstDash val="solid"/>
          </a:ln>
        </p:spPr>
      </p:sp>
      <p:sp>
        <p:nvSpPr>
          <p:cNvPr id="27" name="sqlite box text"/>
          <p:cNvSpPr txBox="1"/>
          <p:nvPr/>
        </p:nvSpPr>
        <p:spPr>
          <a:xfrm>
            <a:off x="6309360" y="2432304"/>
            <a:ext cx="2286000" cy="713232"/>
          </a:xfrm>
          <a:prstGeom prst="rect">
            <a:avLst/>
          </a:prstGeom>
          <a:noFill/>
          <a:ln/>
        </p:spPr>
        <p:txBody>
          <a:bodyPr wrap="square" lIns="0" tIns="0" rIns="0" bIns="0" rtlCol="0" anchor="t"/>
          <a:lstStyle/>
          <a:p>
            <a:pPr algn="ctr" indent="0" marL="0">
              <a:buNone/>
            </a:pPr>
            <a:r>
              <a:rPr lang="en-US" sz="1250" b="1" dirty="0">
                <a:solidFill>
                  <a:schemeClr val="bg1"/>
                </a:solidFill>
              </a:rPr>
              <a:t>stockmate.db  (SQLite)</a:t>
            </a:r>
            <a:endParaRPr lang="en-US" sz="1250" dirty="0"/>
          </a:p>
          <a:p>
            <a:pPr algn="ctr" indent="0" marL="0">
              <a:buNone/>
            </a:pPr>
            <a:r>
              <a:rPr lang="en-US" sz="1050" dirty="0">
                <a:solidFill>
                  <a:schemeClr val="bg1"/>
                </a:solidFill>
              </a:rPr>
              <a:t>StockItems</a:t>
            </a:r>
            <a:endParaRPr lang="en-US" sz="1250" dirty="0"/>
          </a:p>
          <a:p>
            <a:pPr algn="ctr" indent="0" marL="0">
              <a:buNone/>
            </a:pPr>
            <a:r>
              <a:rPr lang="en-US" sz="1050" dirty="0">
                <a:solidFill>
                  <a:schemeClr val="bg1"/>
                </a:solidFill>
              </a:rPr>
              <a:t>Transactions</a:t>
            </a:r>
            <a:endParaRPr lang="en-US" sz="1250" dirty="0"/>
          </a:p>
        </p:txBody>
      </p:sp>
      <p:sp>
        <p:nvSpPr>
          <p:cNvPr id="28" name="CsvExporter box"/>
          <p:cNvSpPr/>
          <p:nvPr/>
        </p:nvSpPr>
        <p:spPr>
          <a:xfrm>
            <a:off x="6217920" y="3337560"/>
            <a:ext cx="2468880" cy="640080"/>
          </a:xfrm>
          <a:prstGeom prst="roundRect">
            <a:avLst>
              <a:gd name="adj" fmla="val 11429"/>
            </a:avLst>
          </a:prstGeom>
          <a:solidFill>
            <a:schemeClr val="bg2"/>
          </a:solidFill>
          <a:ln w="12700">
            <a:solidFill>
              <a:schemeClr val="bg2"/>
            </a:solidFill>
            <a:prstDash val="solid"/>
          </a:ln>
        </p:spPr>
      </p:sp>
      <p:sp>
        <p:nvSpPr>
          <p:cNvPr id="29" name="CsvExporter box text"/>
          <p:cNvSpPr txBox="1"/>
          <p:nvPr/>
        </p:nvSpPr>
        <p:spPr>
          <a:xfrm>
            <a:off x="6309360" y="3392424"/>
            <a:ext cx="2286000" cy="530352"/>
          </a:xfrm>
          <a:prstGeom prst="rect">
            <a:avLst/>
          </a:prstGeom>
          <a:noFill/>
          <a:ln/>
        </p:spPr>
        <p:txBody>
          <a:bodyPr wrap="square" lIns="0" tIns="0" rIns="0" bIns="0" rtlCol="0" anchor="t"/>
          <a:lstStyle/>
          <a:p>
            <a:pPr algn="ctr" indent="0" marL="0">
              <a:buNone/>
            </a:pPr>
            <a:r>
              <a:rPr lang="en-US" sz="1250" b="1" dirty="0">
                <a:solidFill>
                  <a:schemeClr val="tx1"/>
                </a:solidFill>
              </a:rPr>
              <a:t>CsvExporter</a:t>
            </a:r>
            <a:endParaRPr lang="en-US" sz="1250" dirty="0"/>
          </a:p>
          <a:p>
            <a:pPr algn="ctr" indent="0" marL="0">
              <a:buNone/>
            </a:pPr>
            <a:r>
              <a:rPr lang="en-US" sz="1050" dirty="0">
                <a:solidFill>
                  <a:schemeClr val="tx1"/>
                </a:solidFill>
              </a:rPr>
              <a:t>writes a List&lt;StockItem&gt; to CSV</a:t>
            </a:r>
            <a:endParaRPr lang="en-US" sz="1250" dirty="0"/>
          </a:p>
        </p:txBody>
      </p:sp>
      <p:sp>
        <p:nvSpPr>
          <p:cNvPr id="30" name="ConsumableItem inherits"/>
          <p:cNvSpPr/>
          <p:nvPr/>
        </p:nvSpPr>
        <p:spPr>
          <a:xfrm flipV="1">
            <a:off x="3968496" y="2834640"/>
            <a:ext cx="237744" cy="274320"/>
          </a:xfrm>
          <a:prstGeom prst="line">
            <a:avLst/>
          </a:prstGeom>
          <a:noFill/>
          <a:ln w="19050">
            <a:solidFill>
              <a:srgbClr val="6B7A86"/>
            </a:solidFill>
            <a:prstDash val="solid"/>
            <a:tailEnd type="triangle"/>
          </a:ln>
        </p:spPr>
      </p:sp>
      <p:sp>
        <p:nvSpPr>
          <p:cNvPr id="31" name="DurableItem inherits"/>
          <p:cNvSpPr/>
          <p:nvPr/>
        </p:nvSpPr>
        <p:spPr>
          <a:xfrm flipH="1" flipV="1">
            <a:off x="5120640" y="2834640"/>
            <a:ext cx="237744" cy="274320"/>
          </a:xfrm>
          <a:prstGeom prst="line">
            <a:avLst/>
          </a:prstGeom>
          <a:noFill/>
          <a:ln w="19050">
            <a:solidFill>
              <a:srgbClr val="6B7A86"/>
            </a:solidFill>
            <a:prstDash val="solid"/>
            <a:tailEnd type="triangle"/>
          </a:ln>
        </p:spPr>
      </p:sp>
      <p:sp>
        <p:nvSpPr>
          <p:cNvPr id="32" name="StockItem implements IReportable"/>
          <p:cNvSpPr/>
          <p:nvPr/>
        </p:nvSpPr>
        <p:spPr>
          <a:xfrm flipV="1">
            <a:off x="4663440" y="1920240"/>
            <a:ext cx="914" cy="228600"/>
          </a:xfrm>
          <a:prstGeom prst="line">
            <a:avLst/>
          </a:prstGeom>
          <a:noFill/>
          <a:ln w="19050">
            <a:solidFill>
              <a:srgbClr val="6B7A86"/>
            </a:solidFill>
            <a:prstDash val="dash"/>
            <a:tailEnd type="triangle"/>
          </a:ln>
        </p:spPr>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8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Abstraction</a:t>
            </a:r>
            <a:endParaRPr lang="en-US" sz="3000" dirty="0"/>
          </a:p>
        </p:txBody>
      </p:sp>
      <p:sp>
        <p:nvSpPr>
          <p:cNvPr id="3" name="subtitle"/>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400" i="1" dirty="0">
                <a:solidFill>
                  <a:schemeClr val="accent5"/>
                </a:solidFill>
              </a:rPr>
              <a:t>StockItem is abstract; IReportable is an interface</a:t>
            </a:r>
            <a:endParaRPr lang="en-US" sz="1400" dirty="0"/>
          </a:p>
        </p:txBody>
      </p:sp>
      <p:sp>
        <p:nvSpPr>
          <p:cNvPr id="4" name="StockItem code"/>
          <p:cNvSpPr/>
          <p:nvPr/>
        </p:nvSpPr>
        <p:spPr>
          <a:xfrm>
            <a:off x="457200" y="1325880"/>
            <a:ext cx="4846320" cy="1874520"/>
          </a:xfrm>
          <a:prstGeom prst="roundRect">
            <a:avLst>
              <a:gd name="adj" fmla="val 4878"/>
            </a:avLst>
          </a:prstGeom>
          <a:solidFill>
            <a:schemeClr val="tx2"/>
          </a:solidFill>
          <a:ln w="12700">
            <a:solidFill>
              <a:schemeClr val="tx2"/>
            </a:solidFill>
            <a:prstDash val="solid"/>
          </a:ln>
        </p:spPr>
      </p:sp>
      <p:sp>
        <p:nvSpPr>
          <p:cNvPr id="5" name="StockItem code text"/>
          <p:cNvSpPr txBox="1"/>
          <p:nvPr/>
        </p:nvSpPr>
        <p:spPr>
          <a:xfrm>
            <a:off x="594360" y="1435608"/>
            <a:ext cx="4572000" cy="1655064"/>
          </a:xfrm>
          <a:prstGeom prst="rect">
            <a:avLst/>
          </a:prstGeom>
          <a:noFill/>
          <a:ln/>
        </p:spPr>
        <p:txBody>
          <a:bodyPr wrap="square" lIns="0" tIns="0" rIns="0" bIns="0" rtlCol="0" anchor="t"/>
          <a:lstStyle/>
          <a:p>
            <a:pPr indent="0" marL="0">
              <a:buNone/>
            </a:pPr>
            <a:r>
              <a:rPr lang="en-US" sz="1100" dirty="0">
                <a:solidFill>
                  <a:srgbClr val="ECF2F5"/>
                </a:solidFill>
                <a:latin typeface="Courier New" pitchFamily="34" charset="0"/>
                <a:ea typeface="Courier New" pitchFamily="34" charset="-122"/>
                <a:cs typeface="Courier New" pitchFamily="34" charset="-120"/>
              </a:rPr>
              <a:t>public abstract class StockItem : IReportable</a:t>
            </a:r>
            <a:endParaRPr lang="en-US" sz="1100" dirty="0"/>
          </a:p>
          <a:p>
            <a:pPr indent="0" marL="0">
              <a:buNone/>
            </a:pPr>
            <a:r>
              <a:rPr lang="en-US" sz="1100" dirty="0">
                <a:solidFill>
                  <a:srgbClr val="ECF2F5"/>
                </a:solidFill>
                <a:latin typeface="Courier New" pitchFamily="34" charset="0"/>
                <a:ea typeface="Courier New" pitchFamily="34" charset="-122"/>
                <a:cs typeface="Courier New" pitchFamily="34" charset="-120"/>
              </a:rPr>
              <a:t>{</a:t>
            </a:r>
            <a:endParaRPr lang="en-US" sz="1100" dirty="0"/>
          </a:p>
          <a:p>
            <a:pPr indent="0" marL="0">
              <a:buNone/>
            </a:pPr>
            <a:r>
              <a:rPr lang="en-US" sz="1100" i="1" dirty="0">
                <a:solidFill>
                  <a:srgbClr val="9FB3C0"/>
                </a:solidFill>
                <a:latin typeface="Courier New" pitchFamily="34" charset="0"/>
                <a:ea typeface="Courier New" pitchFamily="34" charset="-122"/>
                <a:cs typeface="Courier New" pitchFamily="34" charset="-120"/>
              </a:rPr>
              <a:t>    // Each child class must fill these in.</a:t>
            </a:r>
            <a:endParaRPr lang="en-US" sz="1100" dirty="0"/>
          </a:p>
          <a:p>
            <a:pPr indent="0" marL="0">
              <a:buNone/>
            </a:pPr>
            <a:r>
              <a:rPr lang="en-US" sz="1100" dirty="0">
                <a:solidFill>
                  <a:srgbClr val="ECF2F5"/>
                </a:solidFill>
                <a:latin typeface="Courier New" pitchFamily="34" charset="0"/>
                <a:ea typeface="Courier New" pitchFamily="34" charset="-122"/>
                <a:cs typeface="Courier New" pitchFamily="34" charset="-120"/>
              </a:rPr>
              <a:t>    public abstract string ItemType { get; }</a:t>
            </a:r>
            <a:endParaRPr lang="en-US" sz="1100" dirty="0"/>
          </a:p>
          <a:p>
            <a:pPr indent="0" marL="0">
              <a:buNone/>
            </a:pPr>
            <a:r>
              <a:rPr lang="en-US" sz="1100" dirty="0">
                <a:solidFill>
                  <a:srgbClr val="ECF2F5"/>
                </a:solidFill>
                <a:latin typeface="Courier New" pitchFamily="34" charset="0"/>
                <a:ea typeface="Courier New" pitchFamily="34" charset="-122"/>
                <a:cs typeface="Courier New" pitchFamily="34" charset="-120"/>
              </a:rPr>
              <a:t>    public abstract bool NeedsAttention();</a:t>
            </a:r>
            <a:endParaRPr lang="en-US" sz="1100" dirty="0"/>
          </a:p>
          <a:p>
            <a:pPr indent="0" marL="0">
              <a:buNone/>
            </a:pPr>
            <a:r>
              <a:rPr lang="en-US" sz="1100" dirty="0">
                <a:solidFill>
                  <a:srgbClr val="ECF2F5"/>
                </a:solidFill>
                <a:latin typeface="Courier New" pitchFamily="34" charset="0"/>
                <a:ea typeface="Courier New" pitchFamily="34" charset="-122"/>
                <a:cs typeface="Courier New" pitchFamily="34" charset="-120"/>
              </a:rPr>
              <a:t>    public abstract string AttentionMessage();</a:t>
            </a:r>
            <a:endParaRPr lang="en-US" sz="1100" dirty="0"/>
          </a:p>
          <a:p>
            <a:pPr indent="0" marL="0">
              <a:buNone/>
            </a:pPr>
            <a:r>
              <a:rPr lang="en-US" sz="1100" dirty="0">
                <a:solidFill>
                  <a:srgbClr val="ECF2F5"/>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CF2F5"/>
                </a:solidFill>
                <a:latin typeface="Courier New" pitchFamily="34" charset="0"/>
                <a:ea typeface="Courier New" pitchFamily="34" charset="-122"/>
                <a:cs typeface="Courier New" pitchFamily="34" charset="-120"/>
              </a:rPr>
              <a:t>}</a:t>
            </a:r>
            <a:endParaRPr lang="en-US" sz="1100" dirty="0"/>
          </a:p>
        </p:txBody>
      </p:sp>
      <p:sp>
        <p:nvSpPr>
          <p:cNvPr id="6" name="code file label"/>
          <p:cNvSpPr txBox="1"/>
          <p:nvPr/>
        </p:nvSpPr>
        <p:spPr>
          <a:xfrm>
            <a:off x="594360" y="2907792"/>
            <a:ext cx="4572000" cy="228600"/>
          </a:xfrm>
          <a:prstGeom prst="rect">
            <a:avLst/>
          </a:prstGeom>
          <a:noFill/>
          <a:ln/>
        </p:spPr>
        <p:txBody>
          <a:bodyPr wrap="square" lIns="0" tIns="0" rIns="0" bIns="0" rtlCol="0" anchor="ctr"/>
          <a:lstStyle/>
          <a:p>
            <a:pPr algn="r" indent="0" marL="0">
              <a:buNone/>
            </a:pPr>
            <a:r>
              <a:rPr lang="en-US" sz="900" dirty="0">
                <a:solidFill>
                  <a:srgbClr val="9FB3C0"/>
                </a:solidFill>
              </a:rPr>
              <a:t>Models/StockItem.cs</a:t>
            </a:r>
            <a:endParaRPr lang="en-US" sz="900" dirty="0"/>
          </a:p>
        </p:txBody>
      </p:sp>
      <p:sp>
        <p:nvSpPr>
          <p:cNvPr id="7" name="IReportable code"/>
          <p:cNvSpPr/>
          <p:nvPr/>
        </p:nvSpPr>
        <p:spPr>
          <a:xfrm>
            <a:off x="457200" y="3337560"/>
            <a:ext cx="4846320" cy="1280160"/>
          </a:xfrm>
          <a:prstGeom prst="roundRect">
            <a:avLst>
              <a:gd name="adj" fmla="val 7143"/>
            </a:avLst>
          </a:prstGeom>
          <a:solidFill>
            <a:schemeClr val="tx2"/>
          </a:solidFill>
          <a:ln w="12700">
            <a:solidFill>
              <a:schemeClr val="tx2"/>
            </a:solidFill>
            <a:prstDash val="solid"/>
          </a:ln>
        </p:spPr>
      </p:sp>
      <p:sp>
        <p:nvSpPr>
          <p:cNvPr id="8" name="IReportable code text"/>
          <p:cNvSpPr txBox="1"/>
          <p:nvPr/>
        </p:nvSpPr>
        <p:spPr>
          <a:xfrm>
            <a:off x="594360" y="3447288"/>
            <a:ext cx="4572000" cy="1060704"/>
          </a:xfrm>
          <a:prstGeom prst="rect">
            <a:avLst/>
          </a:prstGeom>
          <a:noFill/>
          <a:ln/>
        </p:spPr>
        <p:txBody>
          <a:bodyPr wrap="square" lIns="0" tIns="0" rIns="0" bIns="0" rtlCol="0" anchor="t"/>
          <a:lstStyle/>
          <a:p>
            <a:pPr indent="0" marL="0">
              <a:buNone/>
            </a:pPr>
            <a:r>
              <a:rPr lang="en-US" sz="1100" i="1" dirty="0">
                <a:solidFill>
                  <a:srgbClr val="9FB3C0"/>
                </a:solidFill>
                <a:latin typeface="Courier New" pitchFamily="34" charset="0"/>
                <a:ea typeface="Courier New" pitchFamily="34" charset="-122"/>
                <a:cs typeface="Courier New" pitchFamily="34" charset="-120"/>
              </a:rPr>
              <a:t>// Anything that can describe itself as one line of</a:t>
            </a:r>
            <a:endParaRPr lang="en-US" sz="1100" dirty="0"/>
          </a:p>
          <a:p>
            <a:pPr indent="0" marL="0">
              <a:buNone/>
            </a:pPr>
            <a:r>
              <a:rPr lang="en-US" sz="1100" i="1" dirty="0">
                <a:solidFill>
                  <a:srgbClr val="9FB3C0"/>
                </a:solidFill>
                <a:latin typeface="Courier New" pitchFamily="34" charset="0"/>
                <a:ea typeface="Courier New" pitchFamily="34" charset="-122"/>
                <a:cs typeface="Courier New" pitchFamily="34" charset="-120"/>
              </a:rPr>
              <a:t>// text in a report.</a:t>
            </a:r>
            <a:endParaRPr lang="en-US" sz="1100" dirty="0"/>
          </a:p>
          <a:p>
            <a:pPr indent="0" marL="0">
              <a:buNone/>
            </a:pPr>
            <a:r>
              <a:rPr lang="en-US" sz="1100" dirty="0">
                <a:solidFill>
                  <a:srgbClr val="ECF2F5"/>
                </a:solidFill>
                <a:latin typeface="Courier New" pitchFamily="34" charset="0"/>
                <a:ea typeface="Courier New" pitchFamily="34" charset="-122"/>
                <a:cs typeface="Courier New" pitchFamily="34" charset="-120"/>
              </a:rPr>
              <a:t>public interface IReportable</a:t>
            </a:r>
            <a:endParaRPr lang="en-US" sz="1100" dirty="0"/>
          </a:p>
          <a:p>
            <a:pPr indent="0" marL="0">
              <a:buNone/>
            </a:pPr>
            <a:r>
              <a:rPr lang="en-US" sz="1100" dirty="0">
                <a:solidFill>
                  <a:srgbClr val="ECF2F5"/>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CF2F5"/>
                </a:solidFill>
                <a:latin typeface="Courier New" pitchFamily="34" charset="0"/>
                <a:ea typeface="Courier New" pitchFamily="34" charset="-122"/>
                <a:cs typeface="Courier New" pitchFamily="34" charset="-120"/>
              </a:rPr>
              <a:t>    string ToReportLine();</a:t>
            </a:r>
            <a:endParaRPr lang="en-US" sz="1100" dirty="0"/>
          </a:p>
          <a:p>
            <a:pPr indent="0" marL="0">
              <a:buNone/>
            </a:pPr>
            <a:r>
              <a:rPr lang="en-US" sz="1100" dirty="0">
                <a:solidFill>
                  <a:srgbClr val="ECF2F5"/>
                </a:solidFill>
                <a:latin typeface="Courier New" pitchFamily="34" charset="0"/>
                <a:ea typeface="Courier New" pitchFamily="34" charset="-122"/>
                <a:cs typeface="Courier New" pitchFamily="34" charset="-120"/>
              </a:rPr>
              <a:t>}</a:t>
            </a:r>
            <a:endParaRPr lang="en-US" sz="1100" dirty="0"/>
          </a:p>
        </p:txBody>
      </p:sp>
      <p:sp>
        <p:nvSpPr>
          <p:cNvPr id="9" name="code file label"/>
          <p:cNvSpPr txBox="1"/>
          <p:nvPr/>
        </p:nvSpPr>
        <p:spPr>
          <a:xfrm>
            <a:off x="594360" y="4325112"/>
            <a:ext cx="4572000" cy="228600"/>
          </a:xfrm>
          <a:prstGeom prst="rect">
            <a:avLst/>
          </a:prstGeom>
          <a:noFill/>
          <a:ln/>
        </p:spPr>
        <p:txBody>
          <a:bodyPr wrap="square" lIns="0" tIns="0" rIns="0" bIns="0" rtlCol="0" anchor="ctr"/>
          <a:lstStyle/>
          <a:p>
            <a:pPr algn="r" indent="0" marL="0">
              <a:buNone/>
            </a:pPr>
            <a:r>
              <a:rPr lang="en-US" sz="900" dirty="0">
                <a:solidFill>
                  <a:srgbClr val="9FB3C0"/>
                </a:solidFill>
              </a:rPr>
              <a:t>Models/IReportable.cs</a:t>
            </a:r>
            <a:endParaRPr lang="en-US" sz="900" dirty="0"/>
          </a:p>
        </p:txBody>
      </p:sp>
      <p:sp>
        <p:nvSpPr>
          <p:cNvPr id="10" name="bullet list"/>
          <p:cNvSpPr txBox="1"/>
          <p:nvPr/>
        </p:nvSpPr>
        <p:spPr>
          <a:xfrm>
            <a:off x="5577840" y="1325880"/>
            <a:ext cx="3108960" cy="32918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A plain stock item cannot say whether it needs attention today. Only a consumable (its use-by date) or a durable (its age) can, so StockItem leaves that to its subclasses and can never be created on its own.</a:t>
            </a:r>
            <a:endParaRPr lang="en-US" sz="1250" dirty="0"/>
          </a:p>
          <a:p>
            <a:pPr marL="177800" indent="-177800">
              <a:spcAft>
                <a:spcPts val="700"/>
              </a:spcAft>
              <a:buSzPct val="100000"/>
              <a:buChar char="•"/>
            </a:pPr>
            <a:r>
              <a:rPr lang="en-US" sz="1250" dirty="0">
                <a:solidFill>
                  <a:schemeClr val="tx1"/>
                </a:solidFill>
              </a:rPr>
              <a:t>IReportable is an interface, not a method on StockItem, because StockMovement needs a report line too and it is not a stock item.</a:t>
            </a:r>
            <a:endParaRPr lang="en-US" sz="1250" dirty="0"/>
          </a:p>
          <a:p>
            <a:pPr marL="177800" indent="-177800">
              <a:spcAft>
                <a:spcPts val="700"/>
              </a:spcAft>
              <a:buSzPct val="100000"/>
              <a:buChar char="•"/>
            </a:pPr>
            <a:r>
              <a:rPr lang="en-US" sz="1250" dirty="0">
                <a:solidFill>
                  <a:schemeClr val="tx1"/>
                </a:solidFill>
              </a:rPr>
              <a:t>The forms never see SQL. They call methods like GetHistory() on Database.</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8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Inheritance</a:t>
            </a:r>
            <a:endParaRPr lang="en-US" sz="3000" dirty="0"/>
          </a:p>
        </p:txBody>
      </p:sp>
      <p:sp>
        <p:nvSpPr>
          <p:cNvPr id="3" name="subtitle"/>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400" i="1" dirty="0">
                <a:solidFill>
                  <a:schemeClr val="accent5"/>
                </a:solidFill>
              </a:rPr>
              <a:t>ConsumableItem and DurableItem extend StockItem and add only what is different</a:t>
            </a:r>
            <a:endParaRPr lang="en-US" sz="1400" dirty="0"/>
          </a:p>
        </p:txBody>
      </p:sp>
      <p:sp>
        <p:nvSpPr>
          <p:cNvPr id="4" name="ConsumableItem code"/>
          <p:cNvSpPr/>
          <p:nvPr/>
        </p:nvSpPr>
        <p:spPr>
          <a:xfrm>
            <a:off x="457200" y="1325880"/>
            <a:ext cx="5120640" cy="3291840"/>
          </a:xfrm>
          <a:prstGeom prst="roundRect">
            <a:avLst>
              <a:gd name="adj" fmla="val 2778"/>
            </a:avLst>
          </a:prstGeom>
          <a:solidFill>
            <a:schemeClr val="tx2"/>
          </a:solidFill>
          <a:ln w="12700">
            <a:solidFill>
              <a:schemeClr val="tx2"/>
            </a:solidFill>
            <a:prstDash val="solid"/>
          </a:ln>
        </p:spPr>
      </p:sp>
      <p:sp>
        <p:nvSpPr>
          <p:cNvPr id="5" name="ConsumableItem code text"/>
          <p:cNvSpPr txBox="1"/>
          <p:nvPr/>
        </p:nvSpPr>
        <p:spPr>
          <a:xfrm>
            <a:off x="594360" y="1435608"/>
            <a:ext cx="4846320" cy="3072384"/>
          </a:xfrm>
          <a:prstGeom prst="rect">
            <a:avLst/>
          </a:prstGeom>
          <a:noFill/>
          <a:ln/>
        </p:spPr>
        <p:txBody>
          <a:bodyPr wrap="square" lIns="0" tIns="0" rIns="0" bIns="0" rtlCol="0" anchor="t"/>
          <a:lstStyle/>
          <a:p>
            <a:pPr indent="0" marL="0">
              <a:buNone/>
            </a:pPr>
            <a:r>
              <a:rPr lang="en-US" sz="1050" dirty="0">
                <a:solidFill>
                  <a:srgbClr val="ECF2F5"/>
                </a:solidFill>
                <a:latin typeface="Courier New" pitchFamily="34" charset="0"/>
                <a:ea typeface="Courier New" pitchFamily="34" charset="-122"/>
                <a:cs typeface="Courier New" pitchFamily="34" charset="-120"/>
              </a:rPr>
              <a:t>public class ConsumableItem : StockItem</a:t>
            </a:r>
            <a:endParaRPr lang="en-US" sz="1050" dirty="0"/>
          </a:p>
          <a:p>
            <a:pPr indent="0" marL="0">
              <a:buNone/>
            </a:pPr>
            <a:r>
              <a:rPr lang="en-US" sz="1050" dirty="0">
                <a:solidFill>
                  <a:srgbClr val="ECF2F5"/>
                </a:solidFill>
                <a:latin typeface="Courier New" pitchFamily="34" charset="0"/>
                <a:ea typeface="Courier New" pitchFamily="34" charset="-122"/>
                <a:cs typeface="Courier New" pitchFamily="34" charset="-120"/>
              </a:rPr>
              <a:t>{</a:t>
            </a:r>
            <a:endParaRPr lang="en-US" sz="1050" dirty="0"/>
          </a:p>
          <a:p>
            <a:pPr indent="0" marL="0">
              <a:buNone/>
            </a:pPr>
            <a:r>
              <a:rPr lang="en-US" sz="1050" i="1" dirty="0">
                <a:solidFill>
                  <a:srgbClr val="9FB3C0"/>
                </a:solidFill>
                <a:latin typeface="Courier New" pitchFamily="34" charset="0"/>
                <a:ea typeface="Courier New" pitchFamily="34" charset="-122"/>
                <a:cs typeface="Courier New" pitchFamily="34" charset="-120"/>
              </a:rPr>
              <a:t>    // Warn this many days before the use-by date.</a:t>
            </a:r>
            <a:endParaRPr lang="en-US" sz="1050" dirty="0"/>
          </a:p>
          <a:p>
            <a:pPr indent="0" marL="0">
              <a:buNone/>
            </a:pPr>
            <a:r>
              <a:rPr lang="en-US" sz="1050" dirty="0">
                <a:solidFill>
                  <a:srgbClr val="ECF2F5"/>
                </a:solidFill>
                <a:latin typeface="Courier New" pitchFamily="34" charset="0"/>
                <a:ea typeface="Courier New" pitchFamily="34" charset="-122"/>
                <a:cs typeface="Courier New" pitchFamily="34" charset="-120"/>
              </a:rPr>
              <a:t>    public const int ExpiryWarningDays = 30;</a:t>
            </a:r>
            <a:endParaRPr lang="en-US" sz="1050" dirty="0"/>
          </a:p>
          <a:p>
            <a:pPr indent="0" marL="0">
              <a:buNone/>
            </a:pPr>
            <a:endParaRPr lang="en-US" sz="1050" dirty="0"/>
          </a:p>
          <a:p>
            <a:pPr indent="0" marL="0">
              <a:buNone/>
            </a:pPr>
            <a:r>
              <a:rPr lang="en-US" sz="1050" dirty="0">
                <a:solidFill>
                  <a:srgbClr val="ECF2F5"/>
                </a:solidFill>
                <a:latin typeface="Courier New" pitchFamily="34" charset="0"/>
                <a:ea typeface="Courier New" pitchFamily="34" charset="-122"/>
                <a:cs typeface="Courier New" pitchFamily="34" charset="-120"/>
              </a:rPr>
              <a:t>    public ConsumableItem(string name, string category,</a:t>
            </a:r>
            <a:endParaRPr lang="en-US" sz="1050" dirty="0"/>
          </a:p>
          <a:p>
            <a:pPr indent="0" marL="0">
              <a:buNone/>
            </a:pPr>
            <a:r>
              <a:rPr lang="en-US" sz="1050" dirty="0">
                <a:solidFill>
                  <a:srgbClr val="ECF2F5"/>
                </a:solidFill>
                <a:latin typeface="Courier New" pitchFamily="34" charset="0"/>
                <a:ea typeface="Courier New" pitchFamily="34" charset="-122"/>
                <a:cs typeface="Courier New" pitchFamily="34" charset="-120"/>
              </a:rPr>
              <a:t>                          int quantity, DateTime expiryDate)</a:t>
            </a:r>
            <a:endParaRPr lang="en-US" sz="1050" dirty="0"/>
          </a:p>
          <a:p>
            <a:pPr indent="0" marL="0">
              <a:buNone/>
            </a:pPr>
            <a:r>
              <a:rPr lang="en-US" sz="1050" dirty="0">
                <a:solidFill>
                  <a:srgbClr val="ECF2F5"/>
                </a:solidFill>
                <a:latin typeface="Courier New" pitchFamily="34" charset="0"/>
                <a:ea typeface="Courier New" pitchFamily="34" charset="-122"/>
                <a:cs typeface="Courier New" pitchFamily="34" charset="-120"/>
              </a:rPr>
              <a:t>        : base(name, category, quantity)</a:t>
            </a:r>
            <a:endParaRPr lang="en-US" sz="1050" dirty="0"/>
          </a:p>
          <a:p>
            <a:pPr indent="0" marL="0">
              <a:buNone/>
            </a:pPr>
            <a:r>
              <a:rPr lang="en-US" sz="1050" dirty="0">
                <a:solidFill>
                  <a:srgbClr val="ECF2F5"/>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CF2F5"/>
                </a:solidFill>
                <a:latin typeface="Courier New" pitchFamily="34" charset="0"/>
                <a:ea typeface="Courier New" pitchFamily="34" charset="-122"/>
                <a:cs typeface="Courier New" pitchFamily="34" charset="-120"/>
              </a:rPr>
              <a:t>        ExpiryDate = expiryDate;</a:t>
            </a:r>
            <a:endParaRPr lang="en-US" sz="1050" dirty="0"/>
          </a:p>
          <a:p>
            <a:pPr indent="0" marL="0">
              <a:buNone/>
            </a:pPr>
            <a:r>
              <a:rPr lang="en-US" sz="1050" dirty="0">
                <a:solidFill>
                  <a:srgbClr val="ECF2F5"/>
                </a:solidFill>
                <a:latin typeface="Courier New" pitchFamily="34" charset="0"/>
                <a:ea typeface="Courier New" pitchFamily="34" charset="-122"/>
                <a:cs typeface="Courier New" pitchFamily="34" charset="-120"/>
              </a:rPr>
              <a:t>    }</a:t>
            </a:r>
            <a:endParaRPr lang="en-US" sz="1050" dirty="0"/>
          </a:p>
          <a:p>
            <a:pPr indent="0" marL="0">
              <a:buNone/>
            </a:pPr>
            <a:endParaRPr lang="en-US" sz="1050" dirty="0"/>
          </a:p>
          <a:p>
            <a:pPr indent="0" marL="0">
              <a:buNone/>
            </a:pPr>
            <a:r>
              <a:rPr lang="en-US" sz="1050" dirty="0">
                <a:solidFill>
                  <a:srgbClr val="ECF2F5"/>
                </a:solidFill>
                <a:latin typeface="Courier New" pitchFamily="34" charset="0"/>
                <a:ea typeface="Courier New" pitchFamily="34" charset="-122"/>
                <a:cs typeface="Courier New" pitchFamily="34" charset="-120"/>
              </a:rPr>
              <a:t>    public DateTime ExpiryDate { get; set; }</a:t>
            </a:r>
            <a:endParaRPr lang="en-US" sz="1050" dirty="0"/>
          </a:p>
          <a:p>
            <a:pPr indent="0" marL="0">
              <a:buNone/>
            </a:pPr>
            <a:endParaRPr lang="en-US" sz="1050" dirty="0"/>
          </a:p>
          <a:p>
            <a:pPr indent="0" marL="0">
              <a:buNone/>
            </a:pPr>
            <a:r>
              <a:rPr lang="en-US" sz="1050" dirty="0">
                <a:solidFill>
                  <a:srgbClr val="ECF2F5"/>
                </a:solidFill>
                <a:latin typeface="Courier New" pitchFamily="34" charset="0"/>
                <a:ea typeface="Courier New" pitchFamily="34" charset="-122"/>
                <a:cs typeface="Courier New" pitchFamily="34" charset="-120"/>
              </a:rPr>
              <a:t>    public override bool NeedsAttention()</a:t>
            </a:r>
            <a:endParaRPr lang="en-US" sz="1050" dirty="0"/>
          </a:p>
          <a:p>
            <a:pPr indent="0" marL="0">
              <a:buNone/>
            </a:pPr>
            <a:r>
              <a:rPr lang="en-US" sz="1050" dirty="0">
                <a:solidFill>
                  <a:srgbClr val="ECF2F5"/>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CF2F5"/>
                </a:solidFill>
                <a:latin typeface="Courier New" pitchFamily="34" charset="0"/>
                <a:ea typeface="Courier New" pitchFamily="34" charset="-122"/>
                <a:cs typeface="Courier New" pitchFamily="34" charset="-120"/>
              </a:rPr>
              <a:t>        return IsLowStock || IsNearExpiry || IsExpired;</a:t>
            </a:r>
            <a:endParaRPr lang="en-US" sz="1050" dirty="0"/>
          </a:p>
          <a:p>
            <a:pPr indent="0" marL="0">
              <a:buNone/>
            </a:pPr>
            <a:r>
              <a:rPr lang="en-US" sz="1050" dirty="0">
                <a:solidFill>
                  <a:srgbClr val="ECF2F5"/>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CF2F5"/>
                </a:solidFill>
                <a:latin typeface="Courier New" pitchFamily="34" charset="0"/>
                <a:ea typeface="Courier New" pitchFamily="34" charset="-122"/>
                <a:cs typeface="Courier New" pitchFamily="34" charset="-120"/>
              </a:rPr>
              <a:t>}</a:t>
            </a:r>
            <a:endParaRPr lang="en-US" sz="1050" dirty="0"/>
          </a:p>
        </p:txBody>
      </p:sp>
      <p:sp>
        <p:nvSpPr>
          <p:cNvPr id="6" name="code file label"/>
          <p:cNvSpPr txBox="1"/>
          <p:nvPr/>
        </p:nvSpPr>
        <p:spPr>
          <a:xfrm>
            <a:off x="594360" y="4325112"/>
            <a:ext cx="4846320" cy="228600"/>
          </a:xfrm>
          <a:prstGeom prst="rect">
            <a:avLst/>
          </a:prstGeom>
          <a:noFill/>
          <a:ln/>
        </p:spPr>
        <p:txBody>
          <a:bodyPr wrap="square" lIns="0" tIns="0" rIns="0" bIns="0" rtlCol="0" anchor="ctr"/>
          <a:lstStyle/>
          <a:p>
            <a:pPr algn="r" indent="0" marL="0">
              <a:buNone/>
            </a:pPr>
            <a:r>
              <a:rPr lang="en-US" sz="900" dirty="0">
                <a:solidFill>
                  <a:srgbClr val="9FB3C0"/>
                </a:solidFill>
              </a:rPr>
              <a:t>Models/ConsumableItem.cs</a:t>
            </a:r>
            <a:endParaRPr lang="en-US" sz="900" dirty="0"/>
          </a:p>
        </p:txBody>
      </p:sp>
      <p:sp>
        <p:nvSpPr>
          <p:cNvPr id="7" name="bullet list"/>
          <p:cNvSpPr txBox="1"/>
          <p:nvPr/>
        </p:nvSpPr>
        <p:spPr>
          <a:xfrm>
            <a:off x="5852160" y="1325880"/>
            <a:ext cx="2834640" cy="32918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Inherited from StockItem: name, category, unit, quantity, reorder level, unit cost, the validation, Receive(), Issue(), IsLowStock and TotalValue.</a:t>
            </a:r>
            <a:endParaRPr lang="en-US" sz="1250" dirty="0"/>
          </a:p>
          <a:p>
            <a:pPr marL="177800" indent="-177800">
              <a:spcAft>
                <a:spcPts val="700"/>
              </a:spcAft>
              <a:buSzPct val="100000"/>
              <a:buChar char="•"/>
            </a:pPr>
            <a:r>
              <a:rPr lang="en-US" sz="1250" dirty="0">
                <a:solidFill>
                  <a:schemeClr val="tx1"/>
                </a:solidFill>
              </a:rPr>
              <a:t>Added here: a use-by date and the rule for when it needs attention.</a:t>
            </a:r>
            <a:endParaRPr lang="en-US" sz="1250" dirty="0"/>
          </a:p>
          <a:p>
            <a:pPr marL="177800" indent="-177800">
              <a:spcAft>
                <a:spcPts val="700"/>
              </a:spcAft>
              <a:buSzPct val="100000"/>
              <a:buChar char="•"/>
            </a:pPr>
            <a:r>
              <a:rPr lang="en-US" sz="1250" dirty="0">
                <a:solidFill>
                  <a:schemeClr val="tx1"/>
                </a:solidFill>
              </a:rPr>
              <a:t>DurableItem adds a replacement interval and a last-replaced date instead.</a:t>
            </a:r>
            <a:endParaRPr lang="en-US" sz="1250" dirty="0"/>
          </a:p>
          <a:p>
            <a:pPr marL="177800" indent="-177800">
              <a:spcAft>
                <a:spcPts val="700"/>
              </a:spcAft>
              <a:buSzPct val="100000"/>
              <a:buChar char="•"/>
            </a:pPr>
            <a:r>
              <a:rPr lang="en-US" sz="1250" dirty="0">
                <a:solidFill>
                  <a:schemeClr val="tx1"/>
                </a:solidFill>
              </a:rPr>
              <a:t>base(name, category, quantity) passes the shared values up to StockItem's constructor.</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8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Encapsulation</a:t>
            </a:r>
            <a:endParaRPr lang="en-US" sz="3000" dirty="0"/>
          </a:p>
        </p:txBody>
      </p:sp>
      <p:sp>
        <p:nvSpPr>
          <p:cNvPr id="3" name="subtitle"/>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400" i="1" dirty="0">
                <a:solidFill>
                  <a:schemeClr val="accent5"/>
                </a:solidFill>
              </a:rPr>
              <a:t>The quantity can only change through Receive() and Issue()</a:t>
            </a:r>
            <a:endParaRPr lang="en-US" sz="1400" dirty="0"/>
          </a:p>
        </p:txBody>
      </p:sp>
      <p:sp>
        <p:nvSpPr>
          <p:cNvPr id="4" name="QuantityOnHand code"/>
          <p:cNvSpPr/>
          <p:nvPr/>
        </p:nvSpPr>
        <p:spPr>
          <a:xfrm>
            <a:off x="457200" y="1325880"/>
            <a:ext cx="5120640" cy="3291840"/>
          </a:xfrm>
          <a:prstGeom prst="roundRect">
            <a:avLst>
              <a:gd name="adj" fmla="val 2778"/>
            </a:avLst>
          </a:prstGeom>
          <a:solidFill>
            <a:schemeClr val="tx2"/>
          </a:solidFill>
          <a:ln w="12700">
            <a:solidFill>
              <a:schemeClr val="tx2"/>
            </a:solidFill>
            <a:prstDash val="solid"/>
          </a:ln>
        </p:spPr>
      </p:sp>
      <p:sp>
        <p:nvSpPr>
          <p:cNvPr id="5" name="QuantityOnHand code text"/>
          <p:cNvSpPr txBox="1"/>
          <p:nvPr/>
        </p:nvSpPr>
        <p:spPr>
          <a:xfrm>
            <a:off x="594360" y="1435608"/>
            <a:ext cx="4846320" cy="3072384"/>
          </a:xfrm>
          <a:prstGeom prst="rect">
            <a:avLst/>
          </a:prstGeom>
          <a:noFill/>
          <a:ln/>
        </p:spPr>
        <p:txBody>
          <a:bodyPr wrap="square" lIns="0" tIns="0" rIns="0" bIns="0" rtlCol="0" anchor="t"/>
          <a:lstStyle/>
          <a:p>
            <a:pPr indent="0" marL="0">
              <a:buNone/>
            </a:pPr>
            <a:r>
              <a:rPr lang="en-US" sz="950" i="1" dirty="0">
                <a:solidFill>
                  <a:srgbClr val="9FB3C0"/>
                </a:solidFill>
                <a:latin typeface="Courier New" pitchFamily="34" charset="0"/>
                <a:ea typeface="Courier New" pitchFamily="34" charset="-122"/>
                <a:cs typeface="Courier New" pitchFamily="34" charset="-120"/>
              </a:rPr>
              <a:t>// Other code can read the quantity but cannot assign to it.</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public int QuantityOnHand { get; private set; }</a:t>
            </a:r>
            <a:endParaRPr lang="en-US" sz="950" dirty="0"/>
          </a:p>
          <a:p>
            <a:pPr indent="0" marL="0">
              <a:buNone/>
            </a:pP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public void Receive(int quantity)</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if (quantity &lt;= 0)</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throw new ArgumentException("...must be more than zero.");</a:t>
            </a:r>
            <a:endParaRPr lang="en-US" sz="950" dirty="0"/>
          </a:p>
          <a:p>
            <a:pPr indent="0" marL="0">
              <a:buNone/>
            </a:pP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QuantityOnHand = QuantityOnHand + quantity;</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a:p>
            <a:pPr indent="0" marL="0">
              <a:buNone/>
            </a:pP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public void Issue(int quantity)</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if (quantity &lt;= 0)</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throw new ArgumentException("...must be more than zero.");</a:t>
            </a:r>
            <a:endParaRPr lang="en-US" sz="950" dirty="0"/>
          </a:p>
          <a:p>
            <a:pPr indent="0" marL="0">
              <a:buNone/>
            </a:pP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if (quantity &gt; QuantityOnHand)</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throw new InsufficientStockException(</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Name, quantity, QuantityOnHand);</a:t>
            </a:r>
            <a:endParaRPr lang="en-US" sz="950" dirty="0"/>
          </a:p>
          <a:p>
            <a:pPr indent="0" marL="0">
              <a:buNone/>
            </a:pP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QuantityOnHand = QuantityOnHand - quantity;</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p:txBody>
      </p:sp>
      <p:sp>
        <p:nvSpPr>
          <p:cNvPr id="6" name="code file label"/>
          <p:cNvSpPr txBox="1"/>
          <p:nvPr/>
        </p:nvSpPr>
        <p:spPr>
          <a:xfrm>
            <a:off x="594360" y="4325112"/>
            <a:ext cx="4846320" cy="228600"/>
          </a:xfrm>
          <a:prstGeom prst="rect">
            <a:avLst/>
          </a:prstGeom>
          <a:noFill/>
          <a:ln/>
        </p:spPr>
        <p:txBody>
          <a:bodyPr wrap="square" lIns="0" tIns="0" rIns="0" bIns="0" rtlCol="0" anchor="ctr"/>
          <a:lstStyle/>
          <a:p>
            <a:pPr algn="r" indent="0" marL="0">
              <a:buNone/>
            </a:pPr>
            <a:r>
              <a:rPr lang="en-US" sz="900" dirty="0">
                <a:solidFill>
                  <a:srgbClr val="9FB3C0"/>
                </a:solidFill>
              </a:rPr>
              <a:t>Models/StockItem.cs  (messages shortened)</a:t>
            </a:r>
            <a:endParaRPr lang="en-US" sz="900" dirty="0"/>
          </a:p>
        </p:txBody>
      </p:sp>
      <p:sp>
        <p:nvSpPr>
          <p:cNvPr id="7" name="bullet list"/>
          <p:cNvSpPr txBox="1"/>
          <p:nvPr/>
        </p:nvSpPr>
        <p:spPr>
          <a:xfrm>
            <a:off x="5852160" y="1325880"/>
            <a:ext cx="2834640" cy="32918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The setter is private, so no form can write a number into the quantity.</a:t>
            </a:r>
            <a:endParaRPr lang="en-US" sz="1250" dirty="0"/>
          </a:p>
          <a:p>
            <a:pPr marL="177800" indent="-177800">
              <a:spcAft>
                <a:spcPts val="700"/>
              </a:spcAft>
              <a:buSzPct val="100000"/>
              <a:buChar char="•"/>
            </a:pPr>
            <a:r>
              <a:rPr lang="en-US" sz="1250" dirty="0">
                <a:solidFill>
                  <a:schemeClr val="tx1"/>
                </a:solidFill>
              </a:rPr>
              <a:t>Receive() and Issue() check the rules first and are the only way in.</a:t>
            </a:r>
            <a:endParaRPr lang="en-US" sz="1250" dirty="0"/>
          </a:p>
          <a:p>
            <a:pPr marL="177800" indent="-177800">
              <a:spcAft>
                <a:spcPts val="700"/>
              </a:spcAft>
              <a:buSzPct val="100000"/>
              <a:buChar char="•"/>
            </a:pPr>
            <a:r>
              <a:rPr lang="en-US" sz="1250" dirty="0">
                <a:solidFill>
                  <a:schemeClr val="tx1"/>
                </a:solidFill>
              </a:rPr>
              <a:t>Name, Category, ReorderLevel and UnitCost keep their values in private fields and validate in the setter. A blank name throws.</a:t>
            </a:r>
            <a:endParaRPr lang="en-US" sz="1250" dirty="0"/>
          </a:p>
          <a:p>
            <a:pPr marL="177800" indent="-177800">
              <a:spcAft>
                <a:spcPts val="700"/>
              </a:spcAft>
              <a:buSzPct val="100000"/>
              <a:buChar char="•"/>
            </a:pPr>
            <a:r>
              <a:rPr lang="en-US" sz="1250" dirty="0">
                <a:solidFill>
                  <a:schemeClr val="tx1"/>
                </a:solidFill>
              </a:rPr>
              <a:t>Seen in testing: every refused issue left the quantity and the database untouched, and it could not have been otherwise.</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8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Polymorphism</a:t>
            </a:r>
            <a:endParaRPr lang="en-US" sz="3000" dirty="0"/>
          </a:p>
        </p:txBody>
      </p:sp>
      <p:sp>
        <p:nvSpPr>
          <p:cNvPr id="3" name="subtitle"/>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400" i="1" dirty="0">
                <a:solidFill>
                  <a:schemeClr val="accent5"/>
                </a:solidFill>
              </a:rPr>
              <a:t>The same call, a different answer for each type</a:t>
            </a:r>
            <a:endParaRPr lang="en-US" sz="1400" dirty="0"/>
          </a:p>
        </p:txBody>
      </p:sp>
      <p:sp>
        <p:nvSpPr>
          <p:cNvPr id="4" name="ShowWarnings code"/>
          <p:cNvSpPr/>
          <p:nvPr/>
        </p:nvSpPr>
        <p:spPr>
          <a:xfrm>
            <a:off x="457200" y="1325880"/>
            <a:ext cx="4069080" cy="2331720"/>
          </a:xfrm>
          <a:prstGeom prst="roundRect">
            <a:avLst>
              <a:gd name="adj" fmla="val 3922"/>
            </a:avLst>
          </a:prstGeom>
          <a:solidFill>
            <a:schemeClr val="tx2"/>
          </a:solidFill>
          <a:ln w="12700">
            <a:solidFill>
              <a:schemeClr val="tx2"/>
            </a:solidFill>
            <a:prstDash val="solid"/>
          </a:ln>
        </p:spPr>
      </p:sp>
      <p:sp>
        <p:nvSpPr>
          <p:cNvPr id="5" name="ShowWarnings code text"/>
          <p:cNvSpPr txBox="1"/>
          <p:nvPr/>
        </p:nvSpPr>
        <p:spPr>
          <a:xfrm>
            <a:off x="594360" y="1435608"/>
            <a:ext cx="3794760" cy="2112264"/>
          </a:xfrm>
          <a:prstGeom prst="rect">
            <a:avLst/>
          </a:prstGeom>
          <a:noFill/>
          <a:ln/>
        </p:spPr>
        <p:txBody>
          <a:bodyPr wrap="square" lIns="0" tIns="0" rIns="0" bIns="0" rtlCol="0" anchor="t"/>
          <a:lstStyle/>
          <a:p>
            <a:pPr indent="0" marL="0">
              <a:buNone/>
            </a:pPr>
            <a:r>
              <a:rPr lang="en-US" sz="950" dirty="0">
                <a:solidFill>
                  <a:srgbClr val="ECF2F5"/>
                </a:solidFill>
                <a:latin typeface="Courier New" pitchFamily="34" charset="0"/>
                <a:ea typeface="Courier New" pitchFamily="34" charset="-122"/>
                <a:cs typeface="Courier New" pitchFamily="34" charset="-120"/>
              </a:rPr>
              <a:t>foreach (StockItem item in _items)</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a:p>
            <a:pPr indent="0" marL="0">
              <a:buNone/>
            </a:pPr>
            <a:r>
              <a:rPr lang="en-US" sz="950" i="1" dirty="0">
                <a:solidFill>
                  <a:srgbClr val="9FB3C0"/>
                </a:solidFill>
                <a:latin typeface="Courier New" pitchFamily="34" charset="0"/>
                <a:ea typeface="Courier New" pitchFamily="34" charset="-122"/>
                <a:cs typeface="Courier New" pitchFamily="34" charset="-120"/>
              </a:rPr>
              <a:t>  // Does not need to know which</a:t>
            </a:r>
            <a:endParaRPr lang="en-US" sz="950" dirty="0"/>
          </a:p>
          <a:p>
            <a:pPr indent="0" marL="0">
              <a:buNone/>
            </a:pPr>
            <a:r>
              <a:rPr lang="en-US" sz="950" i="1" dirty="0">
                <a:solidFill>
                  <a:srgbClr val="9FB3C0"/>
                </a:solidFill>
                <a:latin typeface="Courier New" pitchFamily="34" charset="0"/>
                <a:ea typeface="Courier New" pitchFamily="34" charset="-122"/>
                <a:cs typeface="Courier New" pitchFamily="34" charset="-120"/>
              </a:rPr>
              <a:t>  // subclass it is holding.</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if (item.NeedsAttention())</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lstWarnings.Items.Add(item.AttentionMessage());</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p:txBody>
      </p:sp>
      <p:sp>
        <p:nvSpPr>
          <p:cNvPr id="6" name="code file label"/>
          <p:cNvSpPr txBox="1"/>
          <p:nvPr/>
        </p:nvSpPr>
        <p:spPr>
          <a:xfrm>
            <a:off x="594360" y="3364992"/>
            <a:ext cx="3794760" cy="228600"/>
          </a:xfrm>
          <a:prstGeom prst="rect">
            <a:avLst/>
          </a:prstGeom>
          <a:noFill/>
          <a:ln/>
        </p:spPr>
        <p:txBody>
          <a:bodyPr wrap="square" lIns="0" tIns="0" rIns="0" bIns="0" rtlCol="0" anchor="ctr"/>
          <a:lstStyle/>
          <a:p>
            <a:pPr algn="r" indent="0" marL="0">
              <a:buNone/>
            </a:pPr>
            <a:r>
              <a:rPr lang="en-US" sz="900" dirty="0">
                <a:solidFill>
                  <a:srgbClr val="9FB3C0"/>
                </a:solidFill>
              </a:rPr>
              <a:t>Forms/MainForm.cs  ShowWarnings()</a:t>
            </a:r>
            <a:endParaRPr lang="en-US" sz="900" dirty="0"/>
          </a:p>
        </p:txBody>
      </p:sp>
      <p:sp>
        <p:nvSpPr>
          <p:cNvPr id="7" name="Copy code"/>
          <p:cNvSpPr/>
          <p:nvPr/>
        </p:nvSpPr>
        <p:spPr>
          <a:xfrm>
            <a:off x="4617720" y="1325880"/>
            <a:ext cx="4069080" cy="2331720"/>
          </a:xfrm>
          <a:prstGeom prst="roundRect">
            <a:avLst>
              <a:gd name="adj" fmla="val 3922"/>
            </a:avLst>
          </a:prstGeom>
          <a:solidFill>
            <a:schemeClr val="tx2"/>
          </a:solidFill>
          <a:ln w="12700">
            <a:solidFill>
              <a:schemeClr val="tx2"/>
            </a:solidFill>
            <a:prstDash val="solid"/>
          </a:ln>
        </p:spPr>
      </p:sp>
      <p:sp>
        <p:nvSpPr>
          <p:cNvPr id="8" name="Copy code text"/>
          <p:cNvSpPr txBox="1"/>
          <p:nvPr/>
        </p:nvSpPr>
        <p:spPr>
          <a:xfrm>
            <a:off x="4754880" y="1435608"/>
            <a:ext cx="3794760" cy="2112264"/>
          </a:xfrm>
          <a:prstGeom prst="rect">
            <a:avLst/>
          </a:prstGeom>
          <a:noFill/>
          <a:ln/>
        </p:spPr>
        <p:txBody>
          <a:bodyPr wrap="square" lIns="0" tIns="0" rIns="0" bIns="0" rtlCol="0" anchor="t"/>
          <a:lstStyle/>
          <a:p>
            <a:pPr indent="0" marL="0">
              <a:buNone/>
            </a:pPr>
            <a:r>
              <a:rPr lang="en-US" sz="950" dirty="0">
                <a:solidFill>
                  <a:srgbClr val="ECF2F5"/>
                </a:solidFill>
                <a:latin typeface="Courier New" pitchFamily="34" charset="0"/>
                <a:ea typeface="Courier New" pitchFamily="34" charset="-122"/>
                <a:cs typeface="Courier New" pitchFamily="34" charset="-120"/>
              </a:rPr>
              <a:t>List&lt;IReportable&gt; lines = new List&lt;IReportable&gt;();</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lines.Add(_item);</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foreach (StockMovement movement in _movements)</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lines.Add(movement);</a:t>
            </a:r>
            <a:endParaRPr lang="en-US" sz="950" dirty="0"/>
          </a:p>
          <a:p>
            <a:pPr indent="0" marL="0">
              <a:buNone/>
            </a:pP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foreach (IReportable line in lines)</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text.AppendLine(line.ToReportLine());</a:t>
            </a:r>
            <a:endParaRPr lang="en-US" sz="950" dirty="0"/>
          </a:p>
        </p:txBody>
      </p:sp>
      <p:sp>
        <p:nvSpPr>
          <p:cNvPr id="9" name="code file label"/>
          <p:cNvSpPr txBox="1"/>
          <p:nvPr/>
        </p:nvSpPr>
        <p:spPr>
          <a:xfrm>
            <a:off x="4754880" y="3364992"/>
            <a:ext cx="3794760" cy="228600"/>
          </a:xfrm>
          <a:prstGeom prst="rect">
            <a:avLst/>
          </a:prstGeom>
          <a:noFill/>
          <a:ln/>
        </p:spPr>
        <p:txBody>
          <a:bodyPr wrap="square" lIns="0" tIns="0" rIns="0" bIns="0" rtlCol="0" anchor="ctr"/>
          <a:lstStyle/>
          <a:p>
            <a:pPr algn="r" indent="0" marL="0">
              <a:buNone/>
            </a:pPr>
            <a:r>
              <a:rPr lang="en-US" sz="900" dirty="0">
                <a:solidFill>
                  <a:srgbClr val="9FB3C0"/>
                </a:solidFill>
              </a:rPr>
              <a:t>Forms/HistoryForm.cs  btnCopy_Click()</a:t>
            </a:r>
            <a:endParaRPr lang="en-US" sz="900" dirty="0"/>
          </a:p>
        </p:txBody>
      </p:sp>
      <p:sp>
        <p:nvSpPr>
          <p:cNvPr id="10" name="consumable rule"/>
          <p:cNvSpPr/>
          <p:nvPr/>
        </p:nvSpPr>
        <p:spPr>
          <a:xfrm>
            <a:off x="457200" y="3794760"/>
            <a:ext cx="2651760" cy="822960"/>
          </a:xfrm>
          <a:prstGeom prst="roundRect">
            <a:avLst>
              <a:gd name="adj" fmla="val 8889"/>
            </a:avLst>
          </a:prstGeom>
          <a:solidFill>
            <a:schemeClr val="bg2"/>
          </a:solidFill>
          <a:ln w="12700">
            <a:solidFill>
              <a:schemeClr val="bg2"/>
            </a:solidFill>
            <a:prstDash val="solid"/>
          </a:ln>
        </p:spPr>
      </p:sp>
      <p:sp>
        <p:nvSpPr>
          <p:cNvPr id="11" name="consumable rule text"/>
          <p:cNvSpPr txBox="1"/>
          <p:nvPr/>
        </p:nvSpPr>
        <p:spPr>
          <a:xfrm>
            <a:off x="566928" y="3840480"/>
            <a:ext cx="2432304" cy="731520"/>
          </a:xfrm>
          <a:prstGeom prst="rect">
            <a:avLst/>
          </a:prstGeom>
          <a:noFill/>
          <a:ln/>
        </p:spPr>
        <p:txBody>
          <a:bodyPr wrap="square" lIns="0" tIns="0" rIns="0" bIns="0" rtlCol="0" anchor="t"/>
          <a:lstStyle/>
          <a:p>
            <a:pPr indent="0" marL="0">
              <a:buNone/>
            </a:pPr>
            <a:r>
              <a:rPr lang="en-US" sz="1200" b="1" dirty="0">
                <a:solidFill>
                  <a:schemeClr val="tx1"/>
                </a:solidFill>
              </a:rPr>
              <a:t>ConsumableItem.NeedsAttention()</a:t>
            </a:r>
            <a:endParaRPr lang="en-US" sz="1200" dirty="0"/>
          </a:p>
          <a:p>
            <a:pPr indent="0" marL="0">
              <a:buNone/>
            </a:pPr>
            <a:r>
              <a:rPr lang="en-US" sz="1100" dirty="0">
                <a:solidFill>
                  <a:schemeClr val="tx1"/>
                </a:solidFill>
              </a:rPr>
              <a:t>low stock, or within 30 days of its use-by date, or expired</a:t>
            </a:r>
            <a:endParaRPr lang="en-US" sz="1200" dirty="0"/>
          </a:p>
        </p:txBody>
      </p:sp>
      <p:sp>
        <p:nvSpPr>
          <p:cNvPr id="12" name="durable rule"/>
          <p:cNvSpPr/>
          <p:nvPr/>
        </p:nvSpPr>
        <p:spPr>
          <a:xfrm>
            <a:off x="3246120" y="3794760"/>
            <a:ext cx="2651760" cy="822960"/>
          </a:xfrm>
          <a:prstGeom prst="roundRect">
            <a:avLst>
              <a:gd name="adj" fmla="val 8889"/>
            </a:avLst>
          </a:prstGeom>
          <a:solidFill>
            <a:schemeClr val="bg2"/>
          </a:solidFill>
          <a:ln w="12700">
            <a:solidFill>
              <a:schemeClr val="bg2"/>
            </a:solidFill>
            <a:prstDash val="solid"/>
          </a:ln>
        </p:spPr>
      </p:sp>
      <p:sp>
        <p:nvSpPr>
          <p:cNvPr id="13" name="durable rule text"/>
          <p:cNvSpPr txBox="1"/>
          <p:nvPr/>
        </p:nvSpPr>
        <p:spPr>
          <a:xfrm>
            <a:off x="3355848" y="3840480"/>
            <a:ext cx="2432304" cy="731520"/>
          </a:xfrm>
          <a:prstGeom prst="rect">
            <a:avLst/>
          </a:prstGeom>
          <a:noFill/>
          <a:ln/>
        </p:spPr>
        <p:txBody>
          <a:bodyPr wrap="square" lIns="0" tIns="0" rIns="0" bIns="0" rtlCol="0" anchor="t"/>
          <a:lstStyle/>
          <a:p>
            <a:pPr indent="0" marL="0">
              <a:buNone/>
            </a:pPr>
            <a:r>
              <a:rPr lang="en-US" sz="1200" b="1" dirty="0">
                <a:solidFill>
                  <a:schemeClr val="tx1"/>
                </a:solidFill>
              </a:rPr>
              <a:t>DurableItem.NeedsAttention()</a:t>
            </a:r>
            <a:endParaRPr lang="en-US" sz="1200" dirty="0"/>
          </a:p>
          <a:p>
            <a:pPr indent="0" marL="0">
              <a:buNone/>
            </a:pPr>
            <a:r>
              <a:rPr lang="en-US" sz="1100" dirty="0">
                <a:solidFill>
                  <a:schemeClr val="tx1"/>
                </a:solidFill>
              </a:rPr>
              <a:t>low stock, or past its replacement date</a:t>
            </a:r>
            <a:endParaRPr lang="en-US" sz="1200" dirty="0"/>
          </a:p>
        </p:txBody>
      </p:sp>
      <p:sp>
        <p:nvSpPr>
          <p:cNvPr id="14" name="exporter reuse"/>
          <p:cNvSpPr/>
          <p:nvPr/>
        </p:nvSpPr>
        <p:spPr>
          <a:xfrm>
            <a:off x="6035040" y="3794760"/>
            <a:ext cx="2651760" cy="822960"/>
          </a:xfrm>
          <a:prstGeom prst="roundRect">
            <a:avLst>
              <a:gd name="adj" fmla="val 8889"/>
            </a:avLst>
          </a:prstGeom>
          <a:solidFill>
            <a:schemeClr val="bg2"/>
          </a:solidFill>
          <a:ln w="12700">
            <a:solidFill>
              <a:schemeClr val="bg2"/>
            </a:solidFill>
            <a:prstDash val="solid"/>
          </a:ln>
        </p:spPr>
      </p:sp>
      <p:sp>
        <p:nvSpPr>
          <p:cNvPr id="15" name="exporter reuse text"/>
          <p:cNvSpPr txBox="1"/>
          <p:nvPr/>
        </p:nvSpPr>
        <p:spPr>
          <a:xfrm>
            <a:off x="6144768" y="3840480"/>
            <a:ext cx="2432304" cy="731520"/>
          </a:xfrm>
          <a:prstGeom prst="rect">
            <a:avLst/>
          </a:prstGeom>
          <a:noFill/>
          <a:ln/>
        </p:spPr>
        <p:txBody>
          <a:bodyPr wrap="square" lIns="0" tIns="0" rIns="0" bIns="0" rtlCol="0" anchor="t"/>
          <a:lstStyle/>
          <a:p>
            <a:pPr indent="0" marL="0">
              <a:buNone/>
            </a:pPr>
            <a:r>
              <a:rPr lang="en-US" sz="1200" b="1" dirty="0">
                <a:solidFill>
                  <a:schemeClr val="tx1"/>
                </a:solidFill>
              </a:rPr>
              <a:t>Reused by CsvExporter</a:t>
            </a:r>
            <a:endParaRPr lang="en-US" sz="1200" dirty="0"/>
          </a:p>
          <a:p>
            <a:pPr indent="0" marL="0">
              <a:buNone/>
            </a:pPr>
            <a:r>
              <a:rPr lang="en-US" sz="1100" dirty="0">
                <a:solidFill>
                  <a:schemeClr val="tx1"/>
                </a:solidFill>
              </a:rPr>
              <a:t>the Status column comes from the same two calls</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8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Exception handling and validation</a:t>
            </a:r>
            <a:endParaRPr lang="en-US" sz="3000" dirty="0"/>
          </a:p>
        </p:txBody>
      </p:sp>
      <p:sp>
        <p:nvSpPr>
          <p:cNvPr id="3" name="subtitle"/>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400" i="1" dirty="0">
                <a:solidFill>
                  <a:schemeClr val="accent5"/>
                </a:solidFill>
              </a:rPr>
              <a:t>A custom exception, caught in its own block before the general one</a:t>
            </a:r>
            <a:endParaRPr lang="en-US" sz="1400" dirty="0"/>
          </a:p>
        </p:txBody>
      </p:sp>
      <p:sp>
        <p:nvSpPr>
          <p:cNvPr id="4" name="exception code"/>
          <p:cNvSpPr/>
          <p:nvPr/>
        </p:nvSpPr>
        <p:spPr>
          <a:xfrm>
            <a:off x="457200" y="1325880"/>
            <a:ext cx="4846320" cy="3291840"/>
          </a:xfrm>
          <a:prstGeom prst="roundRect">
            <a:avLst>
              <a:gd name="adj" fmla="val 2778"/>
            </a:avLst>
          </a:prstGeom>
          <a:solidFill>
            <a:schemeClr val="tx2"/>
          </a:solidFill>
          <a:ln w="12700">
            <a:solidFill>
              <a:schemeClr val="tx2"/>
            </a:solidFill>
            <a:prstDash val="solid"/>
          </a:ln>
        </p:spPr>
      </p:sp>
      <p:sp>
        <p:nvSpPr>
          <p:cNvPr id="5" name="exception code text"/>
          <p:cNvSpPr txBox="1"/>
          <p:nvPr/>
        </p:nvSpPr>
        <p:spPr>
          <a:xfrm>
            <a:off x="594360" y="1435608"/>
            <a:ext cx="4572000" cy="3072384"/>
          </a:xfrm>
          <a:prstGeom prst="rect">
            <a:avLst/>
          </a:prstGeom>
          <a:noFill/>
          <a:ln/>
        </p:spPr>
        <p:txBody>
          <a:bodyPr wrap="square" lIns="0" tIns="0" rIns="0" bIns="0" rtlCol="0" anchor="t"/>
          <a:lstStyle/>
          <a:p>
            <a:pPr indent="0" marL="0">
              <a:buNone/>
            </a:pPr>
            <a:r>
              <a:rPr lang="en-US" sz="950" dirty="0">
                <a:solidFill>
                  <a:srgbClr val="ECF2F5"/>
                </a:solidFill>
                <a:latin typeface="Courier New" pitchFamily="34" charset="0"/>
                <a:ea typeface="Courier New" pitchFamily="34" charset="-122"/>
                <a:cs typeface="Courier New" pitchFamily="34" charset="-120"/>
              </a:rPr>
              <a:t>public class InsufficientStockException : Exception</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public string ItemName { get; }</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public int QuantityRequested { get; }</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public int QuantityAvailable { get; }</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a:p>
            <a:pPr indent="0" marL="0">
              <a:buNone/>
            </a:pPr>
            <a:r>
              <a:rPr lang="en-US" sz="950" i="1" dirty="0">
                <a:solidFill>
                  <a:srgbClr val="9FB3C0"/>
                </a:solidFill>
                <a:latin typeface="Courier New" pitchFamily="34" charset="0"/>
                <a:ea typeface="Courier New" pitchFamily="34" charset="-122"/>
                <a:cs typeface="Courier New" pitchFamily="34" charset="-120"/>
              </a:rPr>
              <a:t>// MainForm.RecordMovement()</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try</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selected.Issue(form.Quantity);</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_database.SaveMovement(selected, movementType, ...);</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catch (InsufficientStockException ex)</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MessageBox.Show(ex.Message, "Not enough stock", ...);</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catch (Exception ex)</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ShowError("Could not save the movement.", ex);</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p:txBody>
      </p:sp>
      <p:sp>
        <p:nvSpPr>
          <p:cNvPr id="6" name="code file label"/>
          <p:cNvSpPr txBox="1"/>
          <p:nvPr/>
        </p:nvSpPr>
        <p:spPr>
          <a:xfrm>
            <a:off x="594360" y="4325112"/>
            <a:ext cx="4572000" cy="228600"/>
          </a:xfrm>
          <a:prstGeom prst="rect">
            <a:avLst/>
          </a:prstGeom>
          <a:noFill/>
          <a:ln/>
        </p:spPr>
        <p:txBody>
          <a:bodyPr wrap="square" lIns="0" tIns="0" rIns="0" bIns="0" rtlCol="0" anchor="ctr"/>
          <a:lstStyle/>
          <a:p>
            <a:pPr algn="r" indent="0" marL="0">
              <a:buNone/>
            </a:pPr>
            <a:r>
              <a:rPr lang="en-US" sz="900" dirty="0">
                <a:solidFill>
                  <a:srgbClr val="9FB3C0"/>
                </a:solidFill>
              </a:rPr>
              <a:t>Models/InsufficientStockException.cs  ·  Forms/MainForm.cs</a:t>
            </a:r>
            <a:endParaRPr lang="en-US" sz="900" dirty="0"/>
          </a:p>
        </p:txBody>
      </p:sp>
      <p:sp>
        <p:nvSpPr>
          <p:cNvPr id="7" name="not enough stock screenshot frame"/>
          <p:cNvSpPr/>
          <p:nvPr/>
        </p:nvSpPr>
        <p:spPr>
          <a:xfrm>
            <a:off x="5541264" y="1289304"/>
            <a:ext cx="3182112" cy="1325880"/>
          </a:xfrm>
          <a:prstGeom prst="rect">
            <a:avLst/>
          </a:prstGeom>
          <a:solidFill>
            <a:schemeClr val="bg1"/>
          </a:solidFill>
          <a:ln w="9525">
            <a:solidFill>
              <a:schemeClr val="accent5"/>
            </a:solidFill>
            <a:prstDash val="solid"/>
          </a:ln>
          <a:effectLst>
            <a:outerShdw sx="100000" sy="100000" kx="0" ky="0" algn="bl" rotWithShape="0" blurRad="76200" dist="25400" dir="5400000">
              <a:srgbClr val="1F2933">
                <a:alpha val="25000"/>
              </a:srgbClr>
            </a:outerShdw>
          </a:effectLst>
        </p:spPr>
      </p:sp>
      <p:pic>
        <p:nvPicPr>
          <p:cNvPr id="8" name="not enough stock screenshot" descr="C:\Users\aashi\Desktop\ITS203_AssessmentC\docs\screenshots\not-enough-stock.png">    </p:cNvPr>
          <p:cNvPicPr>
            <a:picLocks noChangeAspect="1"/>
          </p:cNvPicPr>
          <p:nvPr/>
        </p:nvPicPr>
        <p:blipFill>
          <a:blip r:embed="rId1"/>
          <a:stretch>
            <a:fillRect/>
          </a:stretch>
        </p:blipFill>
        <p:spPr>
          <a:xfrm>
            <a:off x="5577840" y="1325880"/>
            <a:ext cx="3108960" cy="1252728"/>
          </a:xfrm>
          <a:prstGeom prst="rect">
            <a:avLst/>
          </a:prstGeom>
        </p:spPr>
      </p:pic>
      <p:sp>
        <p:nvSpPr>
          <p:cNvPr id="9" name="bullet list"/>
          <p:cNvSpPr txBox="1"/>
          <p:nvPr/>
        </p:nvSpPr>
        <p:spPr>
          <a:xfrm>
            <a:off x="5577840" y="2743200"/>
            <a:ext cx="3108960" cy="192024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chemeClr val="tx1"/>
                </a:solidFill>
              </a:rPr>
              <a:t>Order matters: the specific catch comes first, so a shortage gets a plain message and real errors still surface.</a:t>
            </a:r>
            <a:endParaRPr lang="en-US" sz="1150" dirty="0"/>
          </a:p>
          <a:p>
            <a:pPr marL="177800" indent="-177800">
              <a:spcAft>
                <a:spcPts val="700"/>
              </a:spcAft>
              <a:buSzPct val="100000"/>
              <a:buChar char="•"/>
            </a:pPr>
            <a:r>
              <a:rPr lang="en-US" sz="1150" dirty="0">
                <a:solidFill>
                  <a:schemeClr val="tx1"/>
                </a:solidFill>
              </a:rPr>
              <a:t>ItemForm catches the ArgumentException thrown by the setters: “Item name cannot be blank.”</a:t>
            </a:r>
            <a:endParaRPr lang="en-US" sz="1150" dirty="0"/>
          </a:p>
          <a:p>
            <a:pPr marL="177800" indent="-177800">
              <a:spcAft>
                <a:spcPts val="700"/>
              </a:spcAft>
              <a:buSzPct val="100000"/>
              <a:buChar char="•"/>
            </a:pPr>
            <a:r>
              <a:rPr lang="en-US" sz="1150" dirty="0">
                <a:solidFill>
                  <a:schemeClr val="tx1"/>
                </a:solidFill>
              </a:rPr>
              <a:t>The export catches IOException when the file is open in Excel; Program.Main shows a message if the database is damaged.</a:t>
            </a:r>
            <a:endParaRPr lang="en-US" sz="11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8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Data: SQLite, two tables, one transaction</a:t>
            </a:r>
            <a:endParaRPr lang="en-US" sz="3000" dirty="0"/>
          </a:p>
        </p:txBody>
      </p:sp>
      <p:sp>
        <p:nvSpPr>
          <p:cNvPr id="3" name="StockItems table"/>
          <p:cNvSpPr/>
          <p:nvPr/>
        </p:nvSpPr>
        <p:spPr>
          <a:xfrm>
            <a:off x="457200" y="1097280"/>
            <a:ext cx="3017520" cy="1325880"/>
          </a:xfrm>
          <a:prstGeom prst="roundRect">
            <a:avLst>
              <a:gd name="adj" fmla="val 5517"/>
            </a:avLst>
          </a:prstGeom>
          <a:solidFill>
            <a:schemeClr val="bg2"/>
          </a:solidFill>
          <a:ln w="12700">
            <a:solidFill>
              <a:schemeClr val="bg2"/>
            </a:solidFill>
            <a:prstDash val="solid"/>
          </a:ln>
        </p:spPr>
      </p:sp>
      <p:sp>
        <p:nvSpPr>
          <p:cNvPr id="4" name="StockItems table text"/>
          <p:cNvSpPr txBox="1"/>
          <p:nvPr/>
        </p:nvSpPr>
        <p:spPr>
          <a:xfrm>
            <a:off x="566928" y="1170432"/>
            <a:ext cx="2798064" cy="1188720"/>
          </a:xfrm>
          <a:prstGeom prst="rect">
            <a:avLst/>
          </a:prstGeom>
          <a:noFill/>
          <a:ln/>
        </p:spPr>
        <p:txBody>
          <a:bodyPr wrap="square" lIns="0" tIns="0" rIns="0" bIns="0" rtlCol="0" anchor="t"/>
          <a:lstStyle/>
          <a:p>
            <a:pPr indent="0" marL="0">
              <a:buNone/>
            </a:pPr>
            <a:r>
              <a:rPr lang="en-US" sz="1300" b="1" dirty="0">
                <a:solidFill>
                  <a:schemeClr val="tx1"/>
                </a:solidFill>
              </a:rPr>
              <a:t>StockItems</a:t>
            </a:r>
            <a:endParaRPr lang="en-US" sz="1300" dirty="0"/>
          </a:p>
          <a:p>
            <a:pPr indent="0" marL="0">
              <a:buNone/>
            </a:pPr>
            <a:r>
              <a:rPr lang="en-US" sz="1050" dirty="0">
                <a:solidFill>
                  <a:schemeClr val="tx1"/>
                </a:solidFill>
                <a:latin typeface="Courier New" pitchFamily="34" charset="0"/>
                <a:ea typeface="Courier New" pitchFamily="34" charset="-122"/>
                <a:cs typeface="Courier New" pitchFamily="34" charset="-120"/>
              </a:rPr>
              <a:t>ItemId, Name, Category, ItemType, Unit, QuantityOnHand, ReorderLevel, UnitCost, IsActive, ExpiryDate, ReplacementMonths, LastReplacedDate</a:t>
            </a:r>
            <a:endParaRPr lang="en-US" sz="1300" dirty="0"/>
          </a:p>
        </p:txBody>
      </p:sp>
      <p:sp>
        <p:nvSpPr>
          <p:cNvPr id="5" name="Transactions table"/>
          <p:cNvSpPr/>
          <p:nvPr/>
        </p:nvSpPr>
        <p:spPr>
          <a:xfrm>
            <a:off x="457200" y="2560320"/>
            <a:ext cx="3017520" cy="1325880"/>
          </a:xfrm>
          <a:prstGeom prst="roundRect">
            <a:avLst>
              <a:gd name="adj" fmla="val 5517"/>
            </a:avLst>
          </a:prstGeom>
          <a:solidFill>
            <a:schemeClr val="bg2"/>
          </a:solidFill>
          <a:ln w="12700">
            <a:solidFill>
              <a:schemeClr val="bg2"/>
            </a:solidFill>
            <a:prstDash val="solid"/>
          </a:ln>
        </p:spPr>
      </p:sp>
      <p:sp>
        <p:nvSpPr>
          <p:cNvPr id="6" name="Transactions table text"/>
          <p:cNvSpPr txBox="1"/>
          <p:nvPr/>
        </p:nvSpPr>
        <p:spPr>
          <a:xfrm>
            <a:off x="566928" y="2633472"/>
            <a:ext cx="2798064" cy="1188720"/>
          </a:xfrm>
          <a:prstGeom prst="rect">
            <a:avLst/>
          </a:prstGeom>
          <a:noFill/>
          <a:ln/>
        </p:spPr>
        <p:txBody>
          <a:bodyPr wrap="square" lIns="0" tIns="0" rIns="0" bIns="0" rtlCol="0" anchor="t"/>
          <a:lstStyle/>
          <a:p>
            <a:pPr indent="0" marL="0">
              <a:buNone/>
            </a:pPr>
            <a:r>
              <a:rPr lang="en-US" sz="1300" b="1" dirty="0">
                <a:solidFill>
                  <a:schemeClr val="tx1"/>
                </a:solidFill>
              </a:rPr>
              <a:t>Transactions</a:t>
            </a:r>
            <a:endParaRPr lang="en-US" sz="1300" dirty="0"/>
          </a:p>
          <a:p>
            <a:pPr indent="0" marL="0">
              <a:buNone/>
            </a:pPr>
            <a:r>
              <a:rPr lang="en-US" sz="1050" dirty="0">
                <a:solidFill>
                  <a:schemeClr val="tx1"/>
                </a:solidFill>
                <a:latin typeface="Courier New" pitchFamily="34" charset="0"/>
                <a:ea typeface="Courier New" pitchFamily="34" charset="-122"/>
                <a:cs typeface="Courier New" pitchFamily="34" charset="-120"/>
              </a:rPr>
              <a:t>TransactionId, ItemId, TransactionType, Quantity, TransactionDate, StaffName</a:t>
            </a:r>
            <a:endParaRPr lang="en-US" sz="1300" dirty="0"/>
          </a:p>
          <a:p>
            <a:pPr indent="0" marL="0">
              <a:buNone/>
            </a:pPr>
            <a:endParaRPr lang="en-US" sz="1300" dirty="0"/>
          </a:p>
          <a:p>
            <a:pPr indent="0" marL="0">
              <a:buNone/>
            </a:pPr>
            <a:r>
              <a:rPr lang="en-US" sz="1050" dirty="0">
                <a:solidFill>
                  <a:schemeClr val="tx1"/>
                </a:solidFill>
                <a:latin typeface="Courier New" pitchFamily="34" charset="0"/>
                <a:ea typeface="Courier New" pitchFamily="34" charset="-122"/>
                <a:cs typeface="Courier New" pitchFamily="34" charset="-120"/>
              </a:rPr>
              <a:t>Rows are never changed or deleted, so the history stays true.</a:t>
            </a:r>
            <a:endParaRPr lang="en-US" sz="1300" dirty="0"/>
          </a:p>
        </p:txBody>
      </p:sp>
      <p:sp>
        <p:nvSpPr>
          <p:cNvPr id="7" name="readitem note"/>
          <p:cNvSpPr txBox="1"/>
          <p:nvPr/>
        </p:nvSpPr>
        <p:spPr>
          <a:xfrm>
            <a:off x="457200" y="4023360"/>
            <a:ext cx="3017520" cy="640080"/>
          </a:xfrm>
          <a:prstGeom prst="rect">
            <a:avLst/>
          </a:prstGeom>
          <a:noFill/>
          <a:ln/>
        </p:spPr>
        <p:txBody>
          <a:bodyPr wrap="square" lIns="0" tIns="0" rIns="0" bIns="0" rtlCol="0" anchor="t"/>
          <a:lstStyle/>
          <a:p>
            <a:pPr indent="0" marL="0">
              <a:buNone/>
            </a:pPr>
            <a:r>
              <a:rPr lang="en-US" sz="1150" i="1" dirty="0">
                <a:solidFill>
                  <a:schemeClr val="accent5"/>
                </a:solidFill>
              </a:rPr>
              <a:t>ReadItem() looks at the ItemType column and builds a ConsumableItem or a DurableItem, so the rest of the program only ever sees objects.</a:t>
            </a:r>
            <a:endParaRPr lang="en-US" sz="1150" dirty="0"/>
          </a:p>
        </p:txBody>
      </p:sp>
      <p:sp>
        <p:nvSpPr>
          <p:cNvPr id="8" name="SaveMovement code"/>
          <p:cNvSpPr/>
          <p:nvPr/>
        </p:nvSpPr>
        <p:spPr>
          <a:xfrm>
            <a:off x="3749040" y="1097280"/>
            <a:ext cx="4937760" cy="3566160"/>
          </a:xfrm>
          <a:prstGeom prst="roundRect">
            <a:avLst>
              <a:gd name="adj" fmla="val 2564"/>
            </a:avLst>
          </a:prstGeom>
          <a:solidFill>
            <a:schemeClr val="tx2"/>
          </a:solidFill>
          <a:ln w="12700">
            <a:solidFill>
              <a:schemeClr val="tx2"/>
            </a:solidFill>
            <a:prstDash val="solid"/>
          </a:ln>
        </p:spPr>
      </p:sp>
      <p:sp>
        <p:nvSpPr>
          <p:cNvPr id="9" name="SaveMovement code text"/>
          <p:cNvSpPr txBox="1"/>
          <p:nvPr/>
        </p:nvSpPr>
        <p:spPr>
          <a:xfrm>
            <a:off x="3886200" y="1207008"/>
            <a:ext cx="4663440" cy="3346704"/>
          </a:xfrm>
          <a:prstGeom prst="rect">
            <a:avLst/>
          </a:prstGeom>
          <a:noFill/>
          <a:ln/>
        </p:spPr>
        <p:txBody>
          <a:bodyPr wrap="square" lIns="0" tIns="0" rIns="0" bIns="0" rtlCol="0" anchor="t"/>
          <a:lstStyle/>
          <a:p>
            <a:pPr indent="0" marL="0">
              <a:buNone/>
            </a:pPr>
            <a:r>
              <a:rPr lang="en-US" sz="950" dirty="0">
                <a:solidFill>
                  <a:srgbClr val="ECF2F5"/>
                </a:solidFill>
                <a:latin typeface="Courier New" pitchFamily="34" charset="0"/>
                <a:ea typeface="Courier New" pitchFamily="34" charset="-122"/>
                <a:cs typeface="Courier New" pitchFamily="34" charset="-120"/>
              </a:rPr>
              <a:t>public void SaveMovement(StockItem item,</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string transactionType, int quantity, string staffName)</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using (SqliteConnection connection = Open())</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using (SqliteTransaction transaction =</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connection.BeginTransaction())</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a:t>
            </a:r>
            <a:endParaRPr lang="en-US" sz="950" dirty="0"/>
          </a:p>
          <a:p>
            <a:pPr indent="0" marL="0">
              <a:buNone/>
            </a:pPr>
            <a:r>
              <a:rPr lang="en-US" sz="950" i="1" dirty="0">
                <a:solidFill>
                  <a:srgbClr val="9FB3C0"/>
                </a:solidFill>
                <a:latin typeface="Courier New" pitchFamily="34" charset="0"/>
                <a:ea typeface="Courier New" pitchFamily="34" charset="-122"/>
                <a:cs typeface="Courier New" pitchFamily="34" charset="-120"/>
              </a:rPr>
              <a:t>        // 1. add the movement</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insert.CommandText = "INSERT INTO Transactions (...)";</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insert.Parameters.AddWithValue("$id", item.ItemId);</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insert.ExecuteNonQuery();</a:t>
            </a:r>
            <a:endParaRPr lang="en-US" sz="950" dirty="0"/>
          </a:p>
          <a:p>
            <a:pPr indent="0" marL="0">
              <a:buNone/>
            </a:pPr>
            <a:endParaRPr lang="en-US" sz="950" dirty="0"/>
          </a:p>
          <a:p>
            <a:pPr indent="0" marL="0">
              <a:buNone/>
            </a:pPr>
            <a:r>
              <a:rPr lang="en-US" sz="950" i="1" dirty="0">
                <a:solidFill>
                  <a:srgbClr val="9FB3C0"/>
                </a:solidFill>
                <a:latin typeface="Courier New" pitchFamily="34" charset="0"/>
                <a:ea typeface="Courier New" pitchFamily="34" charset="-122"/>
                <a:cs typeface="Courier New" pitchFamily="34" charset="-120"/>
              </a:rPr>
              <a:t>        // 2. store the item's new quantity</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update.CommandText = "UPDATE StockItems " +</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"SET QuantityOnHand = $qty WHERE ItemId = $id";</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update.ExecuteNonQuery();</a:t>
            </a:r>
            <a:endParaRPr lang="en-US" sz="950" dirty="0"/>
          </a:p>
          <a:p>
            <a:pPr indent="0" marL="0">
              <a:buNone/>
            </a:pPr>
            <a:endParaRPr lang="en-US" sz="950" dirty="0"/>
          </a:p>
          <a:p>
            <a:pPr indent="0" marL="0">
              <a:buNone/>
            </a:pPr>
            <a:r>
              <a:rPr lang="en-US" sz="950" i="1" dirty="0">
                <a:solidFill>
                  <a:srgbClr val="9FB3C0"/>
                </a:solidFill>
                <a:latin typeface="Courier New" pitchFamily="34" charset="0"/>
                <a:ea typeface="Courier New" pitchFamily="34" charset="-122"/>
                <a:cs typeface="Courier New" pitchFamily="34" charset="-120"/>
              </a:rPr>
              <a:t>        // both or neither</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transaction.Commit();</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ECF2F5"/>
                </a:solidFill>
                <a:latin typeface="Courier New" pitchFamily="34" charset="0"/>
                <a:ea typeface="Courier New" pitchFamily="34" charset="-122"/>
                <a:cs typeface="Courier New" pitchFamily="34" charset="-120"/>
              </a:rPr>
              <a:t>}</a:t>
            </a:r>
            <a:endParaRPr lang="en-US" sz="950" dirty="0"/>
          </a:p>
        </p:txBody>
      </p:sp>
      <p:sp>
        <p:nvSpPr>
          <p:cNvPr id="10" name="code file label"/>
          <p:cNvSpPr txBox="1"/>
          <p:nvPr/>
        </p:nvSpPr>
        <p:spPr>
          <a:xfrm>
            <a:off x="3886200" y="4370832"/>
            <a:ext cx="4663440" cy="228600"/>
          </a:xfrm>
          <a:prstGeom prst="rect">
            <a:avLst/>
          </a:prstGeom>
          <a:noFill/>
          <a:ln/>
        </p:spPr>
        <p:txBody>
          <a:bodyPr wrap="square" lIns="0" tIns="0" rIns="0" bIns="0" rtlCol="0" anchor="ctr"/>
          <a:lstStyle/>
          <a:p>
            <a:pPr algn="r" indent="0" marL="0">
              <a:buNone/>
            </a:pPr>
            <a:r>
              <a:rPr lang="en-US" sz="900" dirty="0">
                <a:solidFill>
                  <a:srgbClr val="9FB3C0"/>
                </a:solidFill>
              </a:rPr>
              <a:t>Data/Database.cs  (shortened)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8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Testing</a:t>
            </a:r>
            <a:endParaRPr lang="en-US" sz="3000" dirty="0"/>
          </a:p>
        </p:txBody>
      </p:sp>
      <p:sp>
        <p:nvSpPr>
          <p:cNvPr id="3" name="subtitle"/>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400" i="1" dirty="0">
                <a:solidFill>
                  <a:schemeClr val="accent5"/>
                </a:solidFill>
              </a:rPr>
              <a:t>38 scenarios through the real windows, against a separate test database, checked afterwards with SQL</a:t>
            </a:r>
            <a:endParaRPr lang="en-US" sz="1400" dirty="0"/>
          </a:p>
        </p:txBody>
      </p:sp>
      <p:sp>
        <p:nvSpPr>
          <p:cNvPr id="4" name="scenarios stat number"/>
          <p:cNvSpPr txBox="1"/>
          <p:nvPr/>
        </p:nvSpPr>
        <p:spPr>
          <a:xfrm>
            <a:off x="457200" y="1371600"/>
            <a:ext cx="2651760" cy="822960"/>
          </a:xfrm>
          <a:prstGeom prst="rect">
            <a:avLst/>
          </a:prstGeom>
          <a:noFill/>
          <a:ln/>
        </p:spPr>
        <p:txBody>
          <a:bodyPr wrap="square" lIns="0" tIns="0" rIns="0" bIns="0" rtlCol="0" anchor="ctr"/>
          <a:lstStyle/>
          <a:p>
            <a:pPr algn="ctr" indent="0" marL="0">
              <a:buNone/>
            </a:pPr>
            <a:r>
              <a:rPr lang="en-US" sz="4800" b="1" dirty="0">
                <a:solidFill>
                  <a:schemeClr val="tx2"/>
                </a:solidFill>
              </a:rPr>
              <a:t>38</a:t>
            </a:r>
            <a:endParaRPr lang="en-US" sz="4800" dirty="0"/>
          </a:p>
        </p:txBody>
      </p:sp>
      <p:sp>
        <p:nvSpPr>
          <p:cNvPr id="5" name="scenarios stat label"/>
          <p:cNvSpPr txBox="1"/>
          <p:nvPr/>
        </p:nvSpPr>
        <p:spPr>
          <a:xfrm>
            <a:off x="457200" y="2194560"/>
            <a:ext cx="2651760" cy="411480"/>
          </a:xfrm>
          <a:prstGeom prst="rect">
            <a:avLst/>
          </a:prstGeom>
          <a:noFill/>
          <a:ln/>
        </p:spPr>
        <p:txBody>
          <a:bodyPr wrap="square" lIns="0" tIns="0" rIns="0" bIns="0" rtlCol="0" anchor="t"/>
          <a:lstStyle/>
          <a:p>
            <a:pPr algn="ctr" indent="0" marL="0">
              <a:buNone/>
            </a:pPr>
            <a:r>
              <a:rPr lang="en-US" sz="1250" dirty="0">
                <a:solidFill>
                  <a:schemeClr val="tx1"/>
                </a:solidFill>
              </a:rPr>
              <a:t>scenarios run</a:t>
            </a:r>
            <a:endParaRPr lang="en-US" sz="1250" dirty="0"/>
          </a:p>
        </p:txBody>
      </p:sp>
      <p:sp>
        <p:nvSpPr>
          <p:cNvPr id="6" name="passed stat number"/>
          <p:cNvSpPr txBox="1"/>
          <p:nvPr/>
        </p:nvSpPr>
        <p:spPr>
          <a:xfrm>
            <a:off x="3246120" y="1371600"/>
            <a:ext cx="2651760" cy="822960"/>
          </a:xfrm>
          <a:prstGeom prst="rect">
            <a:avLst/>
          </a:prstGeom>
          <a:noFill/>
          <a:ln/>
        </p:spPr>
        <p:txBody>
          <a:bodyPr wrap="square" lIns="0" tIns="0" rIns="0" bIns="0" rtlCol="0" anchor="ctr"/>
          <a:lstStyle/>
          <a:p>
            <a:pPr algn="ctr" indent="0" marL="0">
              <a:buNone/>
            </a:pPr>
            <a:r>
              <a:rPr lang="en-US" sz="4800" b="1" dirty="0">
                <a:solidFill>
                  <a:schemeClr val="accent3"/>
                </a:solidFill>
              </a:rPr>
              <a:t>36</a:t>
            </a:r>
            <a:endParaRPr lang="en-US" sz="4800" dirty="0"/>
          </a:p>
        </p:txBody>
      </p:sp>
      <p:sp>
        <p:nvSpPr>
          <p:cNvPr id="7" name="passed stat label"/>
          <p:cNvSpPr txBox="1"/>
          <p:nvPr/>
        </p:nvSpPr>
        <p:spPr>
          <a:xfrm>
            <a:off x="3246120" y="2194560"/>
            <a:ext cx="2651760" cy="411480"/>
          </a:xfrm>
          <a:prstGeom prst="rect">
            <a:avLst/>
          </a:prstGeom>
          <a:noFill/>
          <a:ln/>
        </p:spPr>
        <p:txBody>
          <a:bodyPr wrap="square" lIns="0" tIns="0" rIns="0" bIns="0" rtlCol="0" anchor="t"/>
          <a:lstStyle/>
          <a:p>
            <a:pPr algn="ctr" indent="0" marL="0">
              <a:buNone/>
            </a:pPr>
            <a:r>
              <a:rPr lang="en-US" sz="1250" dirty="0">
                <a:solidFill>
                  <a:schemeClr val="tx1"/>
                </a:solidFill>
              </a:rPr>
              <a:t>passed first time</a:t>
            </a:r>
            <a:endParaRPr lang="en-US" sz="1250" dirty="0"/>
          </a:p>
        </p:txBody>
      </p:sp>
      <p:sp>
        <p:nvSpPr>
          <p:cNvPr id="8" name="fixed stat number"/>
          <p:cNvSpPr txBox="1"/>
          <p:nvPr/>
        </p:nvSpPr>
        <p:spPr>
          <a:xfrm>
            <a:off x="6035040" y="1371600"/>
            <a:ext cx="2651760" cy="822960"/>
          </a:xfrm>
          <a:prstGeom prst="rect">
            <a:avLst/>
          </a:prstGeom>
          <a:noFill/>
          <a:ln/>
        </p:spPr>
        <p:txBody>
          <a:bodyPr wrap="square" lIns="0" tIns="0" rIns="0" bIns="0" rtlCol="0" anchor="ctr"/>
          <a:lstStyle/>
          <a:p>
            <a:pPr algn="ctr" indent="0" marL="0">
              <a:buNone/>
            </a:pPr>
            <a:r>
              <a:rPr lang="en-US" sz="4800" b="1" dirty="0">
                <a:solidFill>
                  <a:schemeClr val="accent4"/>
                </a:solidFill>
              </a:rPr>
              <a:t>2</a:t>
            </a:r>
            <a:endParaRPr lang="en-US" sz="4800" dirty="0"/>
          </a:p>
        </p:txBody>
      </p:sp>
      <p:sp>
        <p:nvSpPr>
          <p:cNvPr id="9" name="fixed stat label"/>
          <p:cNvSpPr txBox="1"/>
          <p:nvPr/>
        </p:nvSpPr>
        <p:spPr>
          <a:xfrm>
            <a:off x="6035040" y="2194560"/>
            <a:ext cx="2651760" cy="411480"/>
          </a:xfrm>
          <a:prstGeom prst="rect">
            <a:avLst/>
          </a:prstGeom>
          <a:noFill/>
          <a:ln/>
        </p:spPr>
        <p:txBody>
          <a:bodyPr wrap="square" lIns="0" tIns="0" rIns="0" bIns="0" rtlCol="0" anchor="t"/>
          <a:lstStyle/>
          <a:p>
            <a:pPr algn="ctr" indent="0" marL="0">
              <a:buNone/>
            </a:pPr>
            <a:r>
              <a:rPr lang="en-US" sz="1250" dirty="0">
                <a:solidFill>
                  <a:schemeClr val="tx1"/>
                </a:solidFill>
              </a:rPr>
              <a:t>failed, fixed, passed again</a:t>
            </a:r>
            <a:endParaRPr lang="en-US" sz="1250" dirty="0"/>
          </a:p>
        </p:txBody>
      </p:sp>
      <p:sp>
        <p:nvSpPr>
          <p:cNvPr id="10" name="finding 1"/>
          <p:cNvSpPr/>
          <p:nvPr/>
        </p:nvSpPr>
        <p:spPr>
          <a:xfrm>
            <a:off x="457200" y="2788920"/>
            <a:ext cx="4069080" cy="1143000"/>
          </a:xfrm>
          <a:prstGeom prst="roundRect">
            <a:avLst>
              <a:gd name="adj" fmla="val 6400"/>
            </a:avLst>
          </a:prstGeom>
          <a:solidFill>
            <a:schemeClr val="bg2"/>
          </a:solidFill>
          <a:ln w="12700">
            <a:solidFill>
              <a:schemeClr val="bg2"/>
            </a:solidFill>
            <a:prstDash val="solid"/>
          </a:ln>
        </p:spPr>
      </p:sp>
      <p:sp>
        <p:nvSpPr>
          <p:cNvPr id="11" name="finding 1 text"/>
          <p:cNvSpPr txBox="1"/>
          <p:nvPr/>
        </p:nvSpPr>
        <p:spPr>
          <a:xfrm>
            <a:off x="594360" y="2862072"/>
            <a:ext cx="3794760" cy="1005840"/>
          </a:xfrm>
          <a:prstGeom prst="rect">
            <a:avLst/>
          </a:prstGeom>
          <a:noFill/>
          <a:ln/>
        </p:spPr>
        <p:txBody>
          <a:bodyPr wrap="square" lIns="0" tIns="0" rIns="0" bIns="0" rtlCol="0" anchor="t"/>
          <a:lstStyle/>
          <a:p>
            <a:pPr indent="0" marL="0">
              <a:buNone/>
            </a:pPr>
            <a:r>
              <a:rPr lang="en-US" sz="1250" b="1" dirty="0">
                <a:solidFill>
                  <a:schemeClr val="tx1"/>
                </a:solidFill>
              </a:rPr>
              <a:t>Found: the database followed the start folder</a:t>
            </a:r>
            <a:endParaRPr lang="en-US" sz="1250" dirty="0"/>
          </a:p>
          <a:p>
            <a:pPr indent="0" marL="0">
              <a:buNone/>
            </a:pPr>
            <a:r>
              <a:rPr lang="en-US" sz="1150" dirty="0">
                <a:solidFill>
                  <a:schemeClr val="tx1"/>
                </a:solidFill>
              </a:rPr>
              <a:t>Started from a different folder, the program showed an empty list and created a second database. Fix: build the path from AppContext.BaseDirectory.</a:t>
            </a:r>
            <a:endParaRPr lang="en-US" sz="1250" dirty="0"/>
          </a:p>
        </p:txBody>
      </p:sp>
      <p:sp>
        <p:nvSpPr>
          <p:cNvPr id="12" name="finding 2"/>
          <p:cNvSpPr/>
          <p:nvPr/>
        </p:nvSpPr>
        <p:spPr>
          <a:xfrm>
            <a:off x="4617720" y="2788920"/>
            <a:ext cx="4069080" cy="1143000"/>
          </a:xfrm>
          <a:prstGeom prst="roundRect">
            <a:avLst>
              <a:gd name="adj" fmla="val 6400"/>
            </a:avLst>
          </a:prstGeom>
          <a:solidFill>
            <a:schemeClr val="bg2"/>
          </a:solidFill>
          <a:ln w="12700">
            <a:solidFill>
              <a:schemeClr val="bg2"/>
            </a:solidFill>
            <a:prstDash val="solid"/>
          </a:ln>
        </p:spPr>
      </p:sp>
      <p:sp>
        <p:nvSpPr>
          <p:cNvPr id="13" name="finding 2 text"/>
          <p:cNvSpPr txBox="1"/>
          <p:nvPr/>
        </p:nvSpPr>
        <p:spPr>
          <a:xfrm>
            <a:off x="4754880" y="2862072"/>
            <a:ext cx="3794760" cy="1005840"/>
          </a:xfrm>
          <a:prstGeom prst="rect">
            <a:avLst/>
          </a:prstGeom>
          <a:noFill/>
          <a:ln/>
        </p:spPr>
        <p:txBody>
          <a:bodyPr wrap="square" lIns="0" tIns="0" rIns="0" bIns="0" rtlCol="0" anchor="t"/>
          <a:lstStyle/>
          <a:p>
            <a:pPr indent="0" marL="0">
              <a:buNone/>
            </a:pPr>
            <a:r>
              <a:rPr lang="en-US" sz="1250" b="1" dirty="0">
                <a:solidFill>
                  <a:schemeClr val="tx1"/>
                </a:solidFill>
              </a:rPr>
              <a:t>Found: a crash on Edit above 100,000</a:t>
            </a:r>
            <a:endParaRPr lang="en-US" sz="1250" dirty="0"/>
          </a:p>
          <a:p>
            <a:pPr indent="0" marL="0">
              <a:buNone/>
            </a:pPr>
            <a:r>
              <a:rPr lang="en-US" sz="1150" dirty="0">
                <a:solidFill>
                  <a:schemeClr val="tx1"/>
                </a:solidFill>
              </a:rPr>
              <a:t>The read-only quantity box still had a maximum of 100,000 and threw. Fix: raise the maximum before showing the value.</a:t>
            </a:r>
            <a:endParaRPr lang="en-US" sz="1250" dirty="0"/>
          </a:p>
        </p:txBody>
      </p:sp>
      <p:sp>
        <p:nvSpPr>
          <p:cNvPr id="14" name="speed line"/>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150" b="1" dirty="0">
                <a:solidFill>
                  <a:schemeClr val="tx1"/>
                </a:solidFill>
              </a:rPr>
              <a:t>Speed with 2,000 items:  </a:t>
            </a:r>
            <a:pPr indent="0" marL="0">
              <a:buNone/>
            </a:pPr>
            <a:r>
              <a:rPr lang="en-US" sz="1150" dirty="0">
                <a:solidFill>
                  <a:schemeClr val="tx1"/>
                </a:solidFill>
              </a:rPr>
              <a:t>start-up 0.73–0.80 s (target 1 s, met)  ·  filter 0.12 s (met)  ·  refresh after a save 1.4–1.6 s (target 1 s, not met — the whole list is reloaded)</a:t>
            </a:r>
            <a:endParaRPr lang="en-US" sz="11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8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Looking back</a:t>
            </a:r>
            <a:endParaRPr lang="en-US" sz="3000" dirty="0"/>
          </a:p>
        </p:txBody>
      </p:sp>
      <p:sp>
        <p:nvSpPr>
          <p:cNvPr id="3" name="timeline heading"/>
          <p:cNvSpPr txBox="1"/>
          <p:nvPr/>
        </p:nvSpPr>
        <p:spPr>
          <a:xfrm>
            <a:off x="457200" y="1005840"/>
            <a:ext cx="8229600" cy="320040"/>
          </a:xfrm>
          <a:prstGeom prst="rect">
            <a:avLst/>
          </a:prstGeom>
          <a:noFill/>
          <a:ln/>
        </p:spPr>
        <p:txBody>
          <a:bodyPr wrap="square" lIns="0" tIns="0" rIns="0" bIns="0" rtlCol="0" anchor="ctr"/>
          <a:lstStyle/>
          <a:p>
            <a:pPr indent="0" marL="0">
              <a:buNone/>
            </a:pPr>
            <a:r>
              <a:rPr lang="en-US" sz="1400" b="1" dirty="0">
                <a:solidFill>
                  <a:schemeClr val="tx2"/>
                </a:solidFill>
              </a:rPr>
              <a:t>24 commits, 23 August to 4 October</a:t>
            </a:r>
            <a:endParaRPr lang="en-US" sz="1400" dirty="0"/>
          </a:p>
        </p:txBody>
      </p:sp>
      <p:sp>
        <p:nvSpPr>
          <p:cNvPr id="4" name="timeline line"/>
          <p:cNvSpPr/>
          <p:nvPr/>
        </p:nvSpPr>
        <p:spPr>
          <a:xfrm>
            <a:off x="822960" y="1874520"/>
            <a:ext cx="7498080" cy="914"/>
          </a:xfrm>
          <a:prstGeom prst="line">
            <a:avLst/>
          </a:prstGeom>
          <a:noFill/>
          <a:ln w="25400">
            <a:solidFill>
              <a:srgbClr val="6B7A86"/>
            </a:solidFill>
            <a:prstDash val="solid"/>
          </a:ln>
        </p:spPr>
      </p:sp>
      <p:sp>
        <p:nvSpPr>
          <p:cNvPr id="5" name="23 Aug dot"/>
          <p:cNvSpPr/>
          <p:nvPr/>
        </p:nvSpPr>
        <p:spPr>
          <a:xfrm>
            <a:off x="640080" y="1691640"/>
            <a:ext cx="365760" cy="365760"/>
          </a:xfrm>
          <a:prstGeom prst="ellipse">
            <a:avLst/>
          </a:prstGeom>
          <a:solidFill>
            <a:schemeClr val="accent1"/>
          </a:solidFill>
          <a:ln w="19050">
            <a:solidFill>
              <a:schemeClr val="bg1"/>
            </a:solidFill>
            <a:prstDash val="solid"/>
          </a:ln>
        </p:spPr>
      </p:sp>
      <p:sp>
        <p:nvSpPr>
          <p:cNvPr id="6" name="23 Aug label"/>
          <p:cNvSpPr txBox="1"/>
          <p:nvPr/>
        </p:nvSpPr>
        <p:spPr>
          <a:xfrm>
            <a:off x="0" y="1371600"/>
            <a:ext cx="1645920" cy="274320"/>
          </a:xfrm>
          <a:prstGeom prst="rect">
            <a:avLst/>
          </a:prstGeom>
          <a:noFill/>
          <a:ln/>
        </p:spPr>
        <p:txBody>
          <a:bodyPr wrap="square" lIns="0" tIns="0" rIns="0" bIns="0" rtlCol="0" anchor="ctr"/>
          <a:lstStyle/>
          <a:p>
            <a:pPr algn="ctr" indent="0" marL="0">
              <a:buNone/>
            </a:pPr>
            <a:r>
              <a:rPr lang="en-US" sz="1200" b="1" dirty="0">
                <a:solidFill>
                  <a:schemeClr val="tx1"/>
                </a:solidFill>
              </a:rPr>
              <a:t>23 Aug</a:t>
            </a:r>
            <a:endParaRPr lang="en-US" sz="1200" dirty="0"/>
          </a:p>
        </p:txBody>
      </p:sp>
      <p:sp>
        <p:nvSpPr>
          <p:cNvPr id="7" name="23 Aug detail"/>
          <p:cNvSpPr txBox="1"/>
          <p:nvPr/>
        </p:nvSpPr>
        <p:spPr>
          <a:xfrm>
            <a:off x="-45720" y="2148840"/>
            <a:ext cx="1737360" cy="594360"/>
          </a:xfrm>
          <a:prstGeom prst="rect">
            <a:avLst/>
          </a:prstGeom>
          <a:noFill/>
          <a:ln/>
        </p:spPr>
        <p:txBody>
          <a:bodyPr wrap="square" lIns="0" tIns="0" rIns="0" bIns="0" rtlCol="0" anchor="t"/>
          <a:lstStyle/>
          <a:p>
            <a:pPr algn="ctr" indent="0" marL="0">
              <a:buNone/>
            </a:pPr>
            <a:r>
              <a:rPr lang="en-US" sz="1000" dirty="0">
                <a:solidFill>
                  <a:schemeClr val="accent5"/>
                </a:solidFill>
              </a:rPr>
              <a:t>3 commits</a:t>
            </a:r>
            <a:endParaRPr lang="en-US" sz="1000" dirty="0"/>
          </a:p>
          <a:p>
            <a:pPr algn="ctr" indent="0" marL="0">
              <a:buNone/>
            </a:pPr>
            <a:r>
              <a:rPr lang="en-US" sz="1000" dirty="0">
                <a:solidFill>
                  <a:schemeClr val="accent5"/>
                </a:solidFill>
              </a:rPr>
              <a:t>solution, models, notes</a:t>
            </a:r>
            <a:endParaRPr lang="en-US" sz="1000" dirty="0"/>
          </a:p>
        </p:txBody>
      </p:sp>
      <p:sp>
        <p:nvSpPr>
          <p:cNvPr id="8" name="9 Sep dot"/>
          <p:cNvSpPr/>
          <p:nvPr/>
        </p:nvSpPr>
        <p:spPr>
          <a:xfrm>
            <a:off x="2514600" y="1691640"/>
            <a:ext cx="365760" cy="365760"/>
          </a:xfrm>
          <a:prstGeom prst="ellipse">
            <a:avLst/>
          </a:prstGeom>
          <a:solidFill>
            <a:schemeClr val="accent1"/>
          </a:solidFill>
          <a:ln w="19050">
            <a:solidFill>
              <a:schemeClr val="bg1"/>
            </a:solidFill>
            <a:prstDash val="solid"/>
          </a:ln>
        </p:spPr>
      </p:sp>
      <p:sp>
        <p:nvSpPr>
          <p:cNvPr id="9" name="9 Sep label"/>
          <p:cNvSpPr txBox="1"/>
          <p:nvPr/>
        </p:nvSpPr>
        <p:spPr>
          <a:xfrm>
            <a:off x="1874520" y="1371600"/>
            <a:ext cx="1645920" cy="274320"/>
          </a:xfrm>
          <a:prstGeom prst="rect">
            <a:avLst/>
          </a:prstGeom>
          <a:noFill/>
          <a:ln/>
        </p:spPr>
        <p:txBody>
          <a:bodyPr wrap="square" lIns="0" tIns="0" rIns="0" bIns="0" rtlCol="0" anchor="ctr"/>
          <a:lstStyle/>
          <a:p>
            <a:pPr algn="ctr" indent="0" marL="0">
              <a:buNone/>
            </a:pPr>
            <a:r>
              <a:rPr lang="en-US" sz="1200" b="1" dirty="0">
                <a:solidFill>
                  <a:schemeClr val="tx1"/>
                </a:solidFill>
              </a:rPr>
              <a:t>9 Sep</a:t>
            </a:r>
            <a:endParaRPr lang="en-US" sz="1200" dirty="0"/>
          </a:p>
        </p:txBody>
      </p:sp>
      <p:sp>
        <p:nvSpPr>
          <p:cNvPr id="10" name="9 Sep detail"/>
          <p:cNvSpPr txBox="1"/>
          <p:nvPr/>
        </p:nvSpPr>
        <p:spPr>
          <a:xfrm>
            <a:off x="1828800" y="2148840"/>
            <a:ext cx="1737360" cy="594360"/>
          </a:xfrm>
          <a:prstGeom prst="rect">
            <a:avLst/>
          </a:prstGeom>
          <a:noFill/>
          <a:ln/>
        </p:spPr>
        <p:txBody>
          <a:bodyPr wrap="square" lIns="0" tIns="0" rIns="0" bIns="0" rtlCol="0" anchor="t"/>
          <a:lstStyle/>
          <a:p>
            <a:pPr algn="ctr" indent="0" marL="0">
              <a:buNone/>
            </a:pPr>
            <a:r>
              <a:rPr lang="en-US" sz="1000" dirty="0">
                <a:solidFill>
                  <a:schemeClr val="accent5"/>
                </a:solidFill>
              </a:rPr>
              <a:t>3 commits</a:t>
            </a:r>
            <a:endParaRPr lang="en-US" sz="1000" dirty="0"/>
          </a:p>
          <a:p>
            <a:pPr algn="ctr" indent="0" marL="0">
              <a:buNone/>
            </a:pPr>
            <a:r>
              <a:rPr lang="en-US" sz="1000" dirty="0">
                <a:solidFill>
                  <a:schemeClr val="accent5"/>
                </a:solidFill>
              </a:rPr>
              <a:t>database and the three forms</a:t>
            </a:r>
            <a:endParaRPr lang="en-US" sz="1000" dirty="0"/>
          </a:p>
        </p:txBody>
      </p:sp>
      <p:sp>
        <p:nvSpPr>
          <p:cNvPr id="11" name="21 Sep dot"/>
          <p:cNvSpPr/>
          <p:nvPr/>
        </p:nvSpPr>
        <p:spPr>
          <a:xfrm>
            <a:off x="4407408" y="1709928"/>
            <a:ext cx="329184" cy="329184"/>
          </a:xfrm>
          <a:prstGeom prst="ellipse">
            <a:avLst/>
          </a:prstGeom>
          <a:solidFill>
            <a:schemeClr val="accent1"/>
          </a:solidFill>
          <a:ln w="19050">
            <a:solidFill>
              <a:schemeClr val="bg1"/>
            </a:solidFill>
            <a:prstDash val="solid"/>
          </a:ln>
        </p:spPr>
      </p:sp>
      <p:sp>
        <p:nvSpPr>
          <p:cNvPr id="12" name="21 Sep label"/>
          <p:cNvSpPr txBox="1"/>
          <p:nvPr/>
        </p:nvSpPr>
        <p:spPr>
          <a:xfrm>
            <a:off x="3749040" y="1371600"/>
            <a:ext cx="1645920" cy="274320"/>
          </a:xfrm>
          <a:prstGeom prst="rect">
            <a:avLst/>
          </a:prstGeom>
          <a:noFill/>
          <a:ln/>
        </p:spPr>
        <p:txBody>
          <a:bodyPr wrap="square" lIns="0" tIns="0" rIns="0" bIns="0" rtlCol="0" anchor="ctr"/>
          <a:lstStyle/>
          <a:p>
            <a:pPr algn="ctr" indent="0" marL="0">
              <a:buNone/>
            </a:pPr>
            <a:r>
              <a:rPr lang="en-US" sz="1200" b="1" dirty="0">
                <a:solidFill>
                  <a:schemeClr val="tx1"/>
                </a:solidFill>
              </a:rPr>
              <a:t>21 Sep</a:t>
            </a:r>
            <a:endParaRPr lang="en-US" sz="1200" dirty="0"/>
          </a:p>
        </p:txBody>
      </p:sp>
      <p:sp>
        <p:nvSpPr>
          <p:cNvPr id="13" name="21 Sep detail"/>
          <p:cNvSpPr txBox="1"/>
          <p:nvPr/>
        </p:nvSpPr>
        <p:spPr>
          <a:xfrm>
            <a:off x="3703320" y="2148840"/>
            <a:ext cx="1737360" cy="594360"/>
          </a:xfrm>
          <a:prstGeom prst="rect">
            <a:avLst/>
          </a:prstGeom>
          <a:noFill/>
          <a:ln/>
        </p:spPr>
        <p:txBody>
          <a:bodyPr wrap="square" lIns="0" tIns="0" rIns="0" bIns="0" rtlCol="0" anchor="t"/>
          <a:lstStyle/>
          <a:p>
            <a:pPr algn="ctr" indent="0" marL="0">
              <a:buNone/>
            </a:pPr>
            <a:r>
              <a:rPr lang="en-US" sz="1000" dirty="0">
                <a:solidFill>
                  <a:schemeClr val="accent5"/>
                </a:solidFill>
              </a:rPr>
              <a:t>2 commits</a:t>
            </a:r>
            <a:endParaRPr lang="en-US" sz="1000" dirty="0"/>
          </a:p>
          <a:p>
            <a:pPr algn="ctr" indent="0" marL="0">
              <a:buNone/>
            </a:pPr>
            <a:r>
              <a:rPr lang="en-US" sz="1000" dirty="0">
                <a:solidFill>
                  <a:schemeClr val="accent5"/>
                </a:solidFill>
              </a:rPr>
              <a:t>progress report, screenshots</a:t>
            </a:r>
            <a:endParaRPr lang="en-US" sz="1000" dirty="0"/>
          </a:p>
        </p:txBody>
      </p:sp>
      <p:sp>
        <p:nvSpPr>
          <p:cNvPr id="14" name="23 Sep dot"/>
          <p:cNvSpPr/>
          <p:nvPr/>
        </p:nvSpPr>
        <p:spPr>
          <a:xfrm>
            <a:off x="6227064" y="1655064"/>
            <a:ext cx="438912" cy="438912"/>
          </a:xfrm>
          <a:prstGeom prst="ellipse">
            <a:avLst/>
          </a:prstGeom>
          <a:solidFill>
            <a:schemeClr val="accent1"/>
          </a:solidFill>
          <a:ln w="19050">
            <a:solidFill>
              <a:schemeClr val="bg1"/>
            </a:solidFill>
            <a:prstDash val="solid"/>
          </a:ln>
        </p:spPr>
      </p:sp>
      <p:sp>
        <p:nvSpPr>
          <p:cNvPr id="15" name="23 Sep label"/>
          <p:cNvSpPr txBox="1"/>
          <p:nvPr/>
        </p:nvSpPr>
        <p:spPr>
          <a:xfrm>
            <a:off x="5623560" y="1371600"/>
            <a:ext cx="1645920" cy="274320"/>
          </a:xfrm>
          <a:prstGeom prst="rect">
            <a:avLst/>
          </a:prstGeom>
          <a:noFill/>
          <a:ln/>
        </p:spPr>
        <p:txBody>
          <a:bodyPr wrap="square" lIns="0" tIns="0" rIns="0" bIns="0" rtlCol="0" anchor="ctr"/>
          <a:lstStyle/>
          <a:p>
            <a:pPr algn="ctr" indent="0" marL="0">
              <a:buNone/>
            </a:pPr>
            <a:r>
              <a:rPr lang="en-US" sz="1200" b="1" dirty="0">
                <a:solidFill>
                  <a:schemeClr val="tx1"/>
                </a:solidFill>
              </a:rPr>
              <a:t>23 Sep</a:t>
            </a:r>
            <a:endParaRPr lang="en-US" sz="1200" dirty="0"/>
          </a:p>
        </p:txBody>
      </p:sp>
      <p:sp>
        <p:nvSpPr>
          <p:cNvPr id="16" name="23 Sep detail"/>
          <p:cNvSpPr txBox="1"/>
          <p:nvPr/>
        </p:nvSpPr>
        <p:spPr>
          <a:xfrm>
            <a:off x="5577840" y="2148840"/>
            <a:ext cx="1737360" cy="594360"/>
          </a:xfrm>
          <a:prstGeom prst="rect">
            <a:avLst/>
          </a:prstGeom>
          <a:noFill/>
          <a:ln/>
        </p:spPr>
        <p:txBody>
          <a:bodyPr wrap="square" lIns="0" tIns="0" rIns="0" bIns="0" rtlCol="0" anchor="t"/>
          <a:lstStyle/>
          <a:p>
            <a:pPr algn="ctr" indent="0" marL="0">
              <a:buNone/>
            </a:pPr>
            <a:r>
              <a:rPr lang="en-US" sz="1000" dirty="0">
                <a:solidFill>
                  <a:schemeClr val="accent5"/>
                </a:solidFill>
              </a:rPr>
              <a:t>5 commits</a:t>
            </a:r>
            <a:endParaRPr lang="en-US" sz="1000" dirty="0"/>
          </a:p>
          <a:p>
            <a:pPr algn="ctr" indent="0" marL="0">
              <a:buNone/>
            </a:pPr>
            <a:r>
              <a:rPr lang="en-US" sz="1000" dirty="0">
                <a:solidFill>
                  <a:schemeClr val="accent5"/>
                </a:solidFill>
              </a:rPr>
              <a:t>deactivate, history, bug fix</a:t>
            </a:r>
            <a:endParaRPr lang="en-US" sz="1000" dirty="0"/>
          </a:p>
        </p:txBody>
      </p:sp>
      <p:sp>
        <p:nvSpPr>
          <p:cNvPr id="17" name="4 Oct dot"/>
          <p:cNvSpPr/>
          <p:nvPr/>
        </p:nvSpPr>
        <p:spPr>
          <a:xfrm>
            <a:off x="7991856" y="1545336"/>
            <a:ext cx="658368" cy="658368"/>
          </a:xfrm>
          <a:prstGeom prst="ellipse">
            <a:avLst/>
          </a:prstGeom>
          <a:solidFill>
            <a:schemeClr val="accent1"/>
          </a:solidFill>
          <a:ln w="19050">
            <a:solidFill>
              <a:schemeClr val="bg1"/>
            </a:solidFill>
            <a:prstDash val="solid"/>
          </a:ln>
        </p:spPr>
      </p:sp>
      <p:sp>
        <p:nvSpPr>
          <p:cNvPr id="18" name="4 Oct label"/>
          <p:cNvSpPr txBox="1"/>
          <p:nvPr/>
        </p:nvSpPr>
        <p:spPr>
          <a:xfrm>
            <a:off x="7498080" y="1371600"/>
            <a:ext cx="1645920" cy="274320"/>
          </a:xfrm>
          <a:prstGeom prst="rect">
            <a:avLst/>
          </a:prstGeom>
          <a:noFill/>
          <a:ln/>
        </p:spPr>
        <p:txBody>
          <a:bodyPr wrap="square" lIns="0" tIns="0" rIns="0" bIns="0" rtlCol="0" anchor="ctr"/>
          <a:lstStyle/>
          <a:p>
            <a:pPr algn="ctr" indent="0" marL="0">
              <a:buNone/>
            </a:pPr>
            <a:r>
              <a:rPr lang="en-US" sz="1200" b="1" dirty="0">
                <a:solidFill>
                  <a:schemeClr val="tx1"/>
                </a:solidFill>
              </a:rPr>
              <a:t>4 Oct</a:t>
            </a:r>
            <a:endParaRPr lang="en-US" sz="1200" dirty="0"/>
          </a:p>
        </p:txBody>
      </p:sp>
      <p:sp>
        <p:nvSpPr>
          <p:cNvPr id="19" name="4 Oct detail"/>
          <p:cNvSpPr txBox="1"/>
          <p:nvPr/>
        </p:nvSpPr>
        <p:spPr>
          <a:xfrm>
            <a:off x="7452360" y="2148840"/>
            <a:ext cx="1737360" cy="594360"/>
          </a:xfrm>
          <a:prstGeom prst="rect">
            <a:avLst/>
          </a:prstGeom>
          <a:noFill/>
          <a:ln/>
        </p:spPr>
        <p:txBody>
          <a:bodyPr wrap="square" lIns="0" tIns="0" rIns="0" bIns="0" rtlCol="0" anchor="t"/>
          <a:lstStyle/>
          <a:p>
            <a:pPr algn="ctr" indent="0" marL="0">
              <a:buNone/>
            </a:pPr>
            <a:r>
              <a:rPr lang="en-US" sz="1000" dirty="0">
                <a:solidFill>
                  <a:schemeClr val="accent5"/>
                </a:solidFill>
              </a:rPr>
              <a:t>11 commits</a:t>
            </a:r>
            <a:endParaRPr lang="en-US" sz="1000" dirty="0"/>
          </a:p>
          <a:p>
            <a:pPr algn="ctr" indent="0" marL="0">
              <a:buNone/>
            </a:pPr>
            <a:r>
              <a:rPr lang="en-US" sz="1000" dirty="0">
                <a:solidFill>
                  <a:schemeClr val="accent5"/>
                </a:solidFill>
              </a:rPr>
              <a:t>CSV export, testing, fixes, reflection</a:t>
            </a:r>
            <a:endParaRPr lang="en-US" sz="1000" dirty="0"/>
          </a:p>
        </p:txBody>
      </p:sp>
      <p:sp>
        <p:nvSpPr>
          <p:cNvPr id="20" name="changed column heading"/>
          <p:cNvSpPr txBox="1"/>
          <p:nvPr/>
        </p:nvSpPr>
        <p:spPr>
          <a:xfrm>
            <a:off x="457200" y="2926080"/>
            <a:ext cx="4023360" cy="320040"/>
          </a:xfrm>
          <a:prstGeom prst="rect">
            <a:avLst/>
          </a:prstGeom>
          <a:noFill/>
          <a:ln/>
        </p:spPr>
        <p:txBody>
          <a:bodyPr wrap="square" lIns="0" tIns="0" rIns="0" bIns="0" rtlCol="0" anchor="ctr"/>
          <a:lstStyle/>
          <a:p>
            <a:pPr indent="0" marL="0">
              <a:buNone/>
            </a:pPr>
            <a:r>
              <a:rPr lang="en-US" sz="1400" b="1" dirty="0">
                <a:solidFill>
                  <a:schemeClr val="tx2"/>
                </a:solidFill>
              </a:rPr>
              <a:t>What changed from the proposal</a:t>
            </a:r>
            <a:endParaRPr lang="en-US" sz="1400" dirty="0"/>
          </a:p>
        </p:txBody>
      </p:sp>
      <p:sp>
        <p:nvSpPr>
          <p:cNvPr id="21" name="bullet list"/>
          <p:cNvSpPr txBox="1"/>
          <p:nvPr/>
        </p:nvSpPr>
        <p:spPr>
          <a:xfrm>
            <a:off x="457200" y="3291840"/>
            <a:ext cx="4023360" cy="137160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chemeClr val="tx1"/>
                </a:solidFill>
              </a:rPr>
              <a:t>Three tables became two: the Categories lookup table was not worth a join and an extra form.</a:t>
            </a:r>
            <a:endParaRPr lang="en-US" sz="1150" dirty="0"/>
          </a:p>
          <a:p>
            <a:pPr marL="177800" indent="-177800">
              <a:spcAft>
                <a:spcPts val="700"/>
              </a:spcAft>
              <a:buSzPct val="100000"/>
              <a:buChar char="•"/>
            </a:pPr>
            <a:r>
              <a:rPr lang="en-US" sz="1150" dirty="0">
                <a:solidFill>
                  <a:schemeClr val="tx1"/>
                </a:solidFill>
              </a:rPr>
              <a:t>One window with tabs became a main window with small pop-up forms.</a:t>
            </a:r>
            <a:endParaRPr lang="en-US" sz="1150" dirty="0"/>
          </a:p>
          <a:p>
            <a:pPr marL="177800" indent="-177800">
              <a:spcAft>
                <a:spcPts val="700"/>
              </a:spcAft>
              <a:buSzPct val="100000"/>
              <a:buChar char="•"/>
            </a:pPr>
            <a:r>
              <a:rPr lang="en-US" sz="1150" dirty="0">
                <a:solidFill>
                  <a:schemeClr val="tx1"/>
                </a:solidFill>
              </a:rPr>
              <a:t>FR-07 and FR-08 were extras; both are built, and FR-07 needed a class the proposal never had, StockMovement.</a:t>
            </a:r>
            <a:endParaRPr lang="en-US" sz="1150" dirty="0"/>
          </a:p>
        </p:txBody>
      </p:sp>
      <p:sp>
        <p:nvSpPr>
          <p:cNvPr id="22" name="differently column heading"/>
          <p:cNvSpPr txBox="1"/>
          <p:nvPr/>
        </p:nvSpPr>
        <p:spPr>
          <a:xfrm>
            <a:off x="4663440" y="2926080"/>
            <a:ext cx="4023360" cy="320040"/>
          </a:xfrm>
          <a:prstGeom prst="rect">
            <a:avLst/>
          </a:prstGeom>
          <a:noFill/>
          <a:ln/>
        </p:spPr>
        <p:txBody>
          <a:bodyPr wrap="square" lIns="0" tIns="0" rIns="0" bIns="0" rtlCol="0" anchor="ctr"/>
          <a:lstStyle/>
          <a:p>
            <a:pPr indent="0" marL="0">
              <a:buNone/>
            </a:pPr>
            <a:r>
              <a:rPr lang="en-US" sz="1400" b="1" dirty="0">
                <a:solidFill>
                  <a:schemeClr val="tx2"/>
                </a:solidFill>
              </a:rPr>
              <a:t>What I would do differently</a:t>
            </a:r>
            <a:endParaRPr lang="en-US" sz="1400" dirty="0"/>
          </a:p>
        </p:txBody>
      </p:sp>
      <p:sp>
        <p:nvSpPr>
          <p:cNvPr id="23" name="bullet list"/>
          <p:cNvSpPr txBox="1"/>
          <p:nvPr/>
        </p:nvSpPr>
        <p:spPr>
          <a:xfrm>
            <a:off x="4663440" y="3291840"/>
            <a:ext cx="4023360" cy="137160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chemeClr val="tx1"/>
                </a:solidFill>
              </a:rPr>
              <a:t>Test from week one. Both failures had been in the code since August.</a:t>
            </a:r>
            <a:endParaRPr lang="en-US" sz="1150" dirty="0"/>
          </a:p>
          <a:p>
            <a:pPr marL="177800" indent="-177800">
              <a:spcAft>
                <a:spcPts val="700"/>
              </a:spcAft>
              <a:buSzPct val="100000"/>
              <a:buChar char="•"/>
            </a:pPr>
            <a:r>
              <a:rPr lang="en-US" sz="1150" dirty="0">
                <a:solidFill>
                  <a:schemeClr val="tx1"/>
                </a:solidFill>
              </a:rPr>
              <a:t>Work steadily instead of in a few long sittings; the timeline above shows it.</a:t>
            </a:r>
            <a:endParaRPr lang="en-US" sz="1150" dirty="0"/>
          </a:p>
          <a:p>
            <a:pPr marL="177800" indent="-177800">
              <a:spcAft>
                <a:spcPts val="700"/>
              </a:spcAft>
              <a:buSzPct val="100000"/>
              <a:buChar char="•"/>
            </a:pPr>
            <a:r>
              <a:rPr lang="en-US" sz="1150" dirty="0">
                <a:solidFill>
                  <a:schemeClr val="tx1"/>
                </a:solidFill>
              </a:rPr>
              <a:t>Update one row after a save instead of reloading the whole list.</a:t>
            </a:r>
            <a:endParaRPr lang="en-US" sz="11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A8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572000" cy="1097280"/>
          </a:xfrm>
          <a:prstGeom prst="rect">
            <a:avLst/>
          </a:prstGeom>
          <a:noFill/>
          <a:ln/>
        </p:spPr>
        <p:txBody>
          <a:bodyPr wrap="square" lIns="0" tIns="0" rIns="0" bIns="0" rtlCol="0" anchor="b"/>
          <a:lstStyle/>
          <a:p>
            <a:pPr indent="0" marL="0">
              <a:buNone/>
            </a:pPr>
            <a:r>
              <a:rPr lang="en-US" sz="5400" b="1" dirty="0">
                <a:solidFill>
                  <a:schemeClr val="bg1"/>
                </a:solidFill>
              </a:rPr>
              <a:t>Questions</a:t>
            </a:r>
            <a:endParaRPr lang="en-US" sz="5400" dirty="0"/>
          </a:p>
        </p:txBody>
      </p:sp>
      <p:sp>
        <p:nvSpPr>
          <p:cNvPr id="3" name="Text 0"/>
          <p:cNvSpPr/>
          <p:nvPr>
            <p:ph idx="101" type="body" hasCustomPrompt="1"/>
          </p:nvPr>
        </p:nvSpPr>
        <p:spPr>
          <a:xfrm>
            <a:off x="548640" y="2560320"/>
            <a:ext cx="4572000" cy="1463040"/>
          </a:xfrm>
          <a:prstGeom prst="rect">
            <a:avLst/>
          </a:prstGeom>
          <a:noFill/>
          <a:ln/>
        </p:spPr>
        <p:txBody>
          <a:bodyPr wrap="square" lIns="0" tIns="0" rIns="0" bIns="0" rtlCol="0" anchor="t"/>
          <a:lstStyle/>
          <a:p>
            <a:pPr indent="0" marL="0">
              <a:buNone/>
            </a:pPr>
            <a:r>
              <a:rPr lang="en-US" sz="1650" dirty="0">
                <a:solidFill>
                  <a:schemeClr val="accent6"/>
                </a:solidFill>
                <a:latin typeface="Courier New" pitchFamily="34" charset="0"/>
                <a:ea typeface="Courier New" pitchFamily="34" charset="-122"/>
                <a:cs typeface="Courier New" pitchFamily="34" charset="-120"/>
              </a:rPr>
              <a:t>github.com/AashirBhusal/StockMate</a:t>
            </a:r>
            <a:endParaRPr lang="en-US" sz="1800" dirty="0"/>
          </a:p>
          <a:p>
            <a:pPr indent="0" marL="0">
              <a:buNone/>
            </a:pPr>
            <a:r>
              <a:rPr lang="en-US" sz="800" dirty="0">
                <a:solidFill>
                  <a:schemeClr val="bg2"/>
                </a:solidFill>
              </a:rPr>
              <a:t> </a:t>
            </a:r>
            <a:endParaRPr lang="en-US" sz="1800" dirty="0"/>
          </a:p>
          <a:p>
            <a:pPr indent="0" marL="0">
              <a:buNone/>
            </a:pPr>
            <a:r>
              <a:rPr lang="en-US" sz="1400" dirty="0">
                <a:solidFill>
                  <a:schemeClr val="bg2"/>
                </a:solidFill>
              </a:rPr>
              <a:t>Source code, README, test record, proposal, progress report and reflection</a:t>
            </a:r>
            <a:endParaRPr lang="en-US" sz="1800" dirty="0"/>
          </a:p>
          <a:p>
            <a:pPr indent="0" marL="0">
              <a:buNone/>
            </a:pPr>
            <a:r>
              <a:rPr lang="en-US" sz="1400" dirty="0">
                <a:solidFill>
                  <a:schemeClr val="bg2"/>
                </a:solidFill>
              </a:rPr>
              <a:t>Aashir Bhusal  ·  s2400901</a:t>
            </a:r>
            <a:endParaRPr lang="en-US" sz="1800" dirty="0"/>
          </a:p>
        </p:txBody>
      </p:sp>
      <p:sp>
        <p:nvSpPr>
          <p:cNvPr id="4" name="history screenshot frame"/>
          <p:cNvSpPr/>
          <p:nvPr/>
        </p:nvSpPr>
        <p:spPr>
          <a:xfrm>
            <a:off x="5449824" y="1335024"/>
            <a:ext cx="3273552" cy="2624328"/>
          </a:xfrm>
          <a:prstGeom prst="rect">
            <a:avLst/>
          </a:prstGeom>
          <a:solidFill>
            <a:schemeClr val="bg1"/>
          </a:solidFill>
          <a:ln w="9525">
            <a:solidFill>
              <a:schemeClr val="accent5"/>
            </a:solidFill>
            <a:prstDash val="solid"/>
          </a:ln>
          <a:effectLst>
            <a:outerShdw sx="100000" sy="100000" kx="0" ky="0" algn="bl" rotWithShape="0" blurRad="76200" dist="25400" dir="5400000">
              <a:srgbClr val="1F2933">
                <a:alpha val="25000"/>
              </a:srgbClr>
            </a:outerShdw>
          </a:effectLst>
        </p:spPr>
      </p:sp>
      <p:pic>
        <p:nvPicPr>
          <p:cNvPr id="5" name="history screenshot" descr="C:\Users\aashi\Desktop\ITS203_AssessmentC\docs\screenshots\history-window.png">    </p:cNvPr>
          <p:cNvPicPr>
            <a:picLocks noChangeAspect="1"/>
          </p:cNvPicPr>
          <p:nvPr/>
        </p:nvPicPr>
        <p:blipFill>
          <a:blip r:embed="rId1"/>
          <a:stretch>
            <a:fillRect/>
          </a:stretch>
        </p:blipFill>
        <p:spPr>
          <a:xfrm>
            <a:off x="5486400" y="1371600"/>
            <a:ext cx="3200400" cy="2551176"/>
          </a:xfrm>
          <a:prstGeom prst="rect">
            <a:avLst/>
          </a:prstGeom>
        </p:spPr>
      </p:pic>
    </p:spTree>
  </p:cSld>
  <p:clrMapOvr>
    <a:masterClrMapping/>
  </p:clrMapOvr>
</p:sld>
</file>

<file path=ppt/theme/theme1.xml><?xml version="1.0" encoding="utf-8"?>
<a:theme xmlns:a="http://schemas.openxmlformats.org/drawingml/2006/main" name="StockMate">
  <a:themeElements>
    <a:clrScheme name="StockMate">
      <a:dk1>
        <a:srgbClr val="1F2933"/>
      </a:dk1>
      <a:lt1>
        <a:srgbClr val="FFFFFF"/>
      </a:lt1>
      <a:dk2>
        <a:srgbClr val="16343F"/>
      </a:dk2>
      <a:lt2>
        <a:srgbClr val="EEF3F5"/>
      </a:lt2>
      <a:accent1>
        <a:srgbClr val="D08A2E"/>
      </a:accent1>
      <a:accent2>
        <a:srgbClr val="2C6E7F"/>
      </a:accent2>
      <a:accent3>
        <a:srgbClr val="4E8C5E"/>
      </a:accent3>
      <a:accent4>
        <a:srgbClr val="B23A32"/>
      </a:accent4>
      <a:accent5>
        <a:srgbClr val="6B7A86"/>
      </a:accent5>
      <a:accent6>
        <a:srgbClr val="E6C27E"/>
      </a:accent6>
      <a:hlink>
        <a:srgbClr val="2C6E7F"/>
      </a:hlink>
      <a:folHlink>
        <a:srgbClr val="6B7A86"/>
      </a:folHlink>
    </a:clrScheme>
    <a:fontScheme name="StockM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StockMate - ITS203 Assessment C, Milestone 3</dc:title>
  <dc:subject>PptxGenJS Presentation</dc:subject>
  <dc:creator>Aashir Bhusal</dc:creator>
  <cp:lastModifiedBy>Aashir Bhusal</cp:lastModifiedBy>
  <cp:revision>1</cp:revision>
  <dcterms:created xsi:type="dcterms:W3CDTF">2026-10-09T04:42:28Z</dcterms:created>
  <dcterms:modified xsi:type="dcterms:W3CDTF">2026-10-09T04:42:28Z</dcterms:modified>
</cp:coreProperties>
</file>